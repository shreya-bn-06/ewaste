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6"/>
  </p:notesMasterIdLst>
  <p:sldIdLst>
    <p:sldId id="256" r:id="rId2"/>
    <p:sldId id="269" r:id="rId3"/>
    <p:sldId id="257" r:id="rId4"/>
    <p:sldId id="272" r:id="rId5"/>
    <p:sldId id="277" r:id="rId6"/>
    <p:sldId id="262" r:id="rId7"/>
    <p:sldId id="264" r:id="rId8"/>
    <p:sldId id="265" r:id="rId9"/>
    <p:sldId id="270" r:id="rId10"/>
    <p:sldId id="279" r:id="rId11"/>
    <p:sldId id="266" r:id="rId12"/>
    <p:sldId id="271" r:id="rId13"/>
    <p:sldId id="278" r:id="rId14"/>
    <p:sldId id="267"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CC"/>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D94CA3-6F36-4207-9351-454978E3D253}" v="8" dt="2026-04-25T14:26:39.6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672" autoAdjust="0"/>
  </p:normalViewPr>
  <p:slideViewPr>
    <p:cSldViewPr>
      <p:cViewPr varScale="1">
        <p:scale>
          <a:sx n="89" d="100"/>
          <a:sy n="89" d="100"/>
        </p:scale>
        <p:origin x="1282" y="8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E43E3CC-FE82-4A5E-8DCC-912D9265AC8E}" type="datetimeFigureOut">
              <a:rPr lang="en-US" smtClean="0"/>
              <a:pPr/>
              <a:t>4/28/2026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A71CBF-769E-40A0-861E-88E4AAA820EC}" type="slidenum">
              <a:rPr lang="en-US" smtClean="0"/>
              <a:pPr/>
              <a:t>‹#›</a:t>
            </a:fld>
            <a:endParaRPr lang="en-US"/>
          </a:p>
        </p:txBody>
      </p:sp>
    </p:spTree>
    <p:extLst>
      <p:ext uri="{BB962C8B-B14F-4D97-AF65-F5344CB8AC3E}">
        <p14:creationId xmlns:p14="http://schemas.microsoft.com/office/powerpoint/2010/main" val="2927882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8A71CBF-769E-40A0-861E-88E4AAA820EC}" type="slidenum">
              <a:rPr lang="en-US" smtClean="0"/>
              <a:pPr/>
              <a:t>12</a:t>
            </a:fld>
            <a:endParaRPr lang="en-US"/>
          </a:p>
        </p:txBody>
      </p:sp>
    </p:spTree>
    <p:extLst>
      <p:ext uri="{BB962C8B-B14F-4D97-AF65-F5344CB8AC3E}">
        <p14:creationId xmlns:p14="http://schemas.microsoft.com/office/powerpoint/2010/main" val="37816894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26443" y="1122363"/>
            <a:ext cx="5691116" cy="2621154"/>
          </a:xfrm>
        </p:spPr>
        <p:txBody>
          <a:bodyPr anchor="b">
            <a:normAutofit/>
          </a:bodyPr>
          <a:lstStyle>
            <a:lvl1pPr algn="ctr">
              <a:defRPr sz="5333"/>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726443" y="3843709"/>
            <a:ext cx="5691116" cy="1414091"/>
          </a:xfrm>
        </p:spPr>
        <p:txBody>
          <a:bodyPr>
            <a:normAutofit/>
          </a:bodyPr>
          <a:lstStyle>
            <a:lvl1pPr marL="0" indent="0" algn="ctr">
              <a:buNone/>
              <a:defRPr sz="2400"/>
            </a:lvl1pPr>
            <a:lvl2pPr marL="609585" indent="0" algn="ctr">
              <a:buNone/>
              <a:defRPr sz="2400"/>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7CA0979-F579-4E9B-A675-1F5ABBFF00DB}" type="datetimeFigureOut">
              <a:rPr lang="en-US" dirty="0"/>
              <a:t>4/28/2026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22665016"/>
      </p:ext>
    </p:extLst>
  </p:cSld>
  <p:clrMapOvr>
    <a:masterClrMapping/>
  </p:clrMapOvr>
  <p:extLst>
    <p:ext uri="{DCECCB84-F9BA-43D5-87BE-67443E8EF086}">
      <p15:sldGuideLst xmlns:p15="http://schemas.microsoft.com/office/powerpoint/2012/main">
        <p15:guide id="5" orient="horz" pos="2160" userDrawn="1">
          <p15:clr>
            <a:srgbClr val="FBAE40"/>
          </p15:clr>
        </p15:guide>
        <p15:guide id="6"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3E7156E-175E-4DBA-9D21-B772C320F342}" type="datetimeFigureOut">
              <a:rPr lang="en-US" dirty="0"/>
              <a:t>4/28/2026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9711579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52536" y="553617"/>
            <a:ext cx="6204855" cy="4008859"/>
          </a:xfrm>
        </p:spPr>
        <p:txBody>
          <a:bodyPr anchor="t">
            <a:normAutofit/>
          </a:bodyPr>
          <a:lstStyle>
            <a:lvl1pPr>
              <a:defRPr sz="7200" cap="all" baseline="0"/>
            </a:lvl1pPr>
          </a:lstStyle>
          <a:p>
            <a:r>
              <a:rPr lang="en-US" dirty="0"/>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52535" y="4589464"/>
            <a:ext cx="6204855" cy="1384617"/>
          </a:xfrm>
        </p:spPr>
        <p:txBody>
          <a:bodyPr anchor="b">
            <a:normAutofit/>
          </a:bodyPr>
          <a:lstStyle>
            <a:lvl1pPr marL="0" indent="0">
              <a:buNone/>
              <a:defRPr sz="2667">
                <a:solidFill>
                  <a:schemeClr val="tx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04895F6E-3D02-4292-95D1-C62B3126321B}" type="datetimeFigureOut">
              <a:rPr lang="en-US" dirty="0"/>
              <a:t>4/28/2026</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4025597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9486" y="548640"/>
            <a:ext cx="8055864" cy="113225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459486"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4629150" y="1825625"/>
            <a:ext cx="38862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DCB5ACB-D10C-44A8-9570-124370F4CB38}" type="datetimeFigureOut">
              <a:rPr lang="en-US" dirty="0"/>
              <a:t>4/28/2026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81150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57200" y="547396"/>
            <a:ext cx="8059341" cy="114329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1" y="1685735"/>
            <a:ext cx="3868340"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457201" y="2386895"/>
            <a:ext cx="3868340"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4629150" y="1685735"/>
            <a:ext cx="3887391" cy="559834"/>
          </a:xfrm>
        </p:spPr>
        <p:txBody>
          <a:bodyPr anchor="b">
            <a:normAutofit/>
          </a:bodyPr>
          <a:lstStyle>
            <a:lvl1pPr marL="0" indent="0">
              <a:lnSpc>
                <a:spcPct val="90000"/>
              </a:lnSpc>
              <a:buNone/>
              <a:defRPr sz="2667" b="1" cap="all" baseline="0"/>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4629150" y="2386895"/>
            <a:ext cx="3887392" cy="376508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B8D84F4-0E7A-4BDE-98C6-AE68FB974645}" type="datetimeFigureOut">
              <a:rPr lang="en-US" dirty="0"/>
              <a:t>4/28/2026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
              </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881063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CBEFF1D8-9801-4C4B-92F3-66C9A863BD74}" type="datetimeFigureOut">
              <a:rPr lang="en-US" dirty="0"/>
              <a:t>4/28/2026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
              </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940451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961FE8FD-B23E-4E1A-83EF-0847EBEA0105}" type="datetimeFigureOut">
              <a:rPr lang="en-US" dirty="0"/>
              <a:t>4/28/2026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3069137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47870" y="553617"/>
            <a:ext cx="2696726" cy="1757505"/>
          </a:xfrm>
        </p:spPr>
        <p:txBody>
          <a:bodyPr anchor="t">
            <a:normAutofit/>
          </a:bodyPr>
          <a:lstStyle>
            <a:lvl1pPr>
              <a:defRPr sz="3733"/>
            </a:lvl1pPr>
          </a:lstStyle>
          <a:p>
            <a:r>
              <a:rPr lang="en-US" dirty="0"/>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3851031" y="553616"/>
            <a:ext cx="4709806" cy="5486400"/>
          </a:xfrm>
        </p:spPr>
        <p:txBody>
          <a:bodyPr>
            <a:normAutofit/>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47870" y="2311122"/>
            <a:ext cx="2696726" cy="3728895"/>
          </a:xfrm>
        </p:spPr>
        <p:txBody>
          <a:bodyPr anchor="t">
            <a:normAutofit/>
          </a:bodyPr>
          <a:lstStyle>
            <a:lvl1pPr marL="0" indent="0">
              <a:buNone/>
              <a:defRPr sz="2400"/>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8DDF891E-A7C2-465C-AD39-8EDCB0F58E3C}" type="datetimeFigureOut">
              <a:rPr lang="en-US" dirty="0"/>
              <a:t>4/28/2026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812682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45770" y="557785"/>
            <a:ext cx="2696726" cy="2212313"/>
          </a:xfrm>
        </p:spPr>
        <p:txBody>
          <a:bodyPr anchor="t">
            <a:normAutofit/>
          </a:bodyPr>
          <a:lstStyle>
            <a:lvl1pPr>
              <a:defRPr sz="3733"/>
            </a:lvl1pPr>
          </a:lstStyle>
          <a:p>
            <a:r>
              <a:rPr lang="en-US" dirty="0"/>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noChangeAspect="1"/>
          </p:cNvSpPr>
          <p:nvPr>
            <p:ph type="pic" idx="1"/>
          </p:nvPr>
        </p:nvSpPr>
        <p:spPr>
          <a:xfrm>
            <a:off x="3797490" y="657103"/>
            <a:ext cx="4862765" cy="5555904"/>
          </a:xfrm>
        </p:spPr>
        <p:txBody>
          <a:bodyPr anchor="t"/>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endParaRP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1" y="2826137"/>
            <a:ext cx="2689190" cy="3434638"/>
          </a:xfrm>
        </p:spPr>
        <p:txBody>
          <a:bodyPr anchor="b"/>
          <a:lstStyle>
            <a:lvl1pPr marL="0" indent="0">
              <a:buNone/>
              <a:defRPr sz="2133"/>
            </a:lvl1pPr>
            <a:lvl2pPr marL="609585" indent="0">
              <a:buNone/>
              <a:defRPr sz="1867"/>
            </a:lvl2pPr>
            <a:lvl3pPr marL="1219170" indent="0">
              <a:buNone/>
              <a:defRPr sz="1600"/>
            </a:lvl3pPr>
            <a:lvl4pPr marL="1828754" indent="0">
              <a:buNone/>
              <a:defRPr sz="1333"/>
            </a:lvl4pPr>
            <a:lvl5pPr marL="2438339" indent="0">
              <a:buNone/>
              <a:defRPr sz="1333"/>
            </a:lvl5pPr>
            <a:lvl6pPr marL="3047924" indent="0">
              <a:buNone/>
              <a:defRPr sz="1333"/>
            </a:lvl6pPr>
            <a:lvl7pPr marL="3657509" indent="0">
              <a:buNone/>
              <a:defRPr sz="1333"/>
            </a:lvl7pPr>
            <a:lvl8pPr marL="4267093" indent="0">
              <a:buNone/>
              <a:defRPr sz="1333"/>
            </a:lvl8pPr>
            <a:lvl9pPr marL="4876678" indent="0">
              <a:buNone/>
              <a:defRPr sz="1333"/>
            </a:lvl9pPr>
          </a:lstStyle>
          <a:p>
            <a:pPr lvl="0"/>
            <a:r>
              <a:rPr lang="en-US" dirty="0"/>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F39F93E5-AFB6-485C-8E3C-32F92A07875F}" type="datetimeFigureOut">
              <a:rPr lang="en-US" dirty="0"/>
              <a:t>4/28/2026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624775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459486" y="548640"/>
            <a:ext cx="7886700" cy="1132258"/>
          </a:xfrm>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459486" y="1680899"/>
            <a:ext cx="7886700" cy="44960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F7E76D0F-5A12-4D0A-80B0-1A6122B61E7B}" type="datetimeFigureOut">
              <a:rPr lang="en-US" dirty="0"/>
              <a:t>4/28/2026</a:t>
            </a:fld>
            <a:endParaRPr lang="en-US" dirty="0"/>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532283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7226166" y="578497"/>
            <a:ext cx="1535278" cy="5598466"/>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628650" y="578498"/>
            <a:ext cx="6597516" cy="559846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8B9E8C84-89CA-44AB-B0BE-5C91BAF75478}" type="datetimeFigureOut">
              <a:rPr lang="en-US" dirty="0"/>
              <a:t>4/28/2026</a:t>
            </a:fld>
            <a:endParaRPr lang="en-US" dirty="0"/>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dirty="0"/>
              <a:t>‹#›</a:t>
            </a:fld>
            <a:endParaRPr lang="en-US" dirty="0"/>
          </a:p>
        </p:txBody>
      </p:sp>
    </p:spTree>
    <p:extLst>
      <p:ext uri="{BB962C8B-B14F-4D97-AF65-F5344CB8AC3E}">
        <p14:creationId xmlns:p14="http://schemas.microsoft.com/office/powerpoint/2010/main" val="205244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9486" y="548640"/>
            <a:ext cx="7990184" cy="113225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9486" y="1715532"/>
            <a:ext cx="7990184" cy="45938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2870" y="6453003"/>
            <a:ext cx="2620736" cy="365125"/>
          </a:xfrm>
          <a:prstGeom prst="rect">
            <a:avLst/>
          </a:prstGeom>
        </p:spPr>
        <p:txBody>
          <a:bodyPr vert="horz" lIns="91440" tIns="45720" rIns="91440" bIns="45720" rtlCol="0" anchor="ctr"/>
          <a:lstStyle>
            <a:lvl1pPr algn="l">
              <a:defRPr sz="1200">
                <a:solidFill>
                  <a:schemeClr val="tx1"/>
                </a:solidFill>
              </a:defRPr>
            </a:lvl1pPr>
          </a:lstStyle>
          <a:p>
            <a:fld id="{3A332BE1-279E-4118-9FE3-7952B079A510}" type="datetimeFigureOut">
              <a:rPr lang="en-US" dirty="0"/>
              <a:t>4/28/2026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657391" y="6453003"/>
            <a:ext cx="2104054" cy="365125"/>
          </a:xfrm>
          <a:prstGeom prst="rect">
            <a:avLst/>
          </a:prstGeom>
        </p:spPr>
        <p:txBody>
          <a:bodyPr vert="horz" lIns="91440" tIns="45720" rIns="91440" bIns="45720" rtlCol="0" anchor="ctr"/>
          <a:lstStyle>
            <a:lvl1pPr algn="r">
              <a:defRPr sz="1200">
                <a:solidFill>
                  <a:schemeClr val="tx1"/>
                </a:solidFill>
              </a:defRPr>
            </a:lvl1pPr>
          </a:lstStyle>
          <a:p>
            <a:r>
              <a:rPr lang="en-US" dirty="0"/>
              <a:t>
              </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724122" y="6453003"/>
            <a:ext cx="321905" cy="365125"/>
          </a:xfrm>
          <a:prstGeom prst="rect">
            <a:avLst/>
          </a:prstGeom>
        </p:spPr>
        <p:txBody>
          <a:bodyPr vert="horz" lIns="91440" tIns="45720" rIns="91440" bIns="45720" rtlCol="0" anchor="ctr"/>
          <a:lstStyle>
            <a:lvl1pPr algn="r">
              <a:defRPr sz="1200">
                <a:solidFill>
                  <a:schemeClr val="tx1"/>
                </a:solidFill>
              </a:defRPr>
            </a:lvl1pPr>
          </a:lstStyle>
          <a:p>
            <a:fld id="{CC057153-B650-4DEB-B370-79DDCFDCE934}" type="slidenum">
              <a:rPr lang="en-US" dirty="0"/>
              <a:t>‹#›</a:t>
            </a:fld>
            <a:endParaRPr lang="en-US" dirty="0"/>
          </a:p>
        </p:txBody>
      </p:sp>
    </p:spTree>
    <p:extLst>
      <p:ext uri="{BB962C8B-B14F-4D97-AF65-F5344CB8AC3E}">
        <p14:creationId xmlns:p14="http://schemas.microsoft.com/office/powerpoint/2010/main" val="18545106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userDrawn="1">
          <p15:clr>
            <a:srgbClr val="F26B43"/>
          </p15:clr>
        </p15:guide>
        <p15:guide id="6"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oi.org/10.1016/j.wasman.2021.02.045"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link.springer.com/article/10.1007/s10163-025-02194-8" TargetMode="External"/><Relationship Id="rId5" Type="http://schemas.openxmlformats.org/officeDocument/2006/relationships/hyperlink" Target="https://doi.org/10.1007/s11356-023-26774-0" TargetMode="External"/><Relationship Id="rId4" Type="http://schemas.openxmlformats.org/officeDocument/2006/relationships/hyperlink" Target="https://www.sciencedirect.com/science/article/pii/S0892687522002710"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doi.org/10.1016/j.mineng.2022.107661" TargetMode="External"/><Relationship Id="rId2" Type="http://schemas.openxmlformats.org/officeDocument/2006/relationships/hyperlink" Target="https://ssrn.com/abstract=5219208" TargetMode="External"/><Relationship Id="rId1" Type="http://schemas.openxmlformats.org/officeDocument/2006/relationships/slideLayout" Target="../slideLayouts/slideLayout2.xml"/><Relationship Id="rId5" Type="http://schemas.openxmlformats.org/officeDocument/2006/relationships/hyperlink" Target="https://doi.org/10.1007/s11356-022-23700-7" TargetMode="External"/><Relationship Id="rId4" Type="http://schemas.openxmlformats.org/officeDocument/2006/relationships/hyperlink" Target="https://doi.org/10.1177/0734242X21101851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600200"/>
            <a:ext cx="7772400" cy="762000"/>
          </a:xfrm>
        </p:spPr>
        <p:txBody>
          <a:bodyPr>
            <a:noAutofit/>
          </a:bodyPr>
          <a:lstStyle/>
          <a:p>
            <a:r>
              <a:rPr lang="en-US" sz="2800" b="1" dirty="0">
                <a:solidFill>
                  <a:srgbClr val="0000CC"/>
                </a:solidFill>
                <a:latin typeface="Times New Roman" panose="02020603050405020304" pitchFamily="18" charset="0"/>
                <a:cs typeface="Times New Roman" panose="02020603050405020304" pitchFamily="18" charset="0"/>
              </a:rPr>
              <a:t>DEPARTMENT OF COMPUTER SCIENCE &amp; ENGINEERING(DATA SCIENCE)</a:t>
            </a:r>
          </a:p>
        </p:txBody>
      </p:sp>
      <p:sp>
        <p:nvSpPr>
          <p:cNvPr id="3" name="Subtitle 2"/>
          <p:cNvSpPr>
            <a:spLocks noGrp="1"/>
          </p:cNvSpPr>
          <p:nvPr>
            <p:ph type="subTitle" idx="1"/>
          </p:nvPr>
        </p:nvSpPr>
        <p:spPr>
          <a:xfrm>
            <a:off x="1524000" y="2648202"/>
            <a:ext cx="6400800" cy="1752600"/>
          </a:xfrm>
        </p:spPr>
        <p:txBody>
          <a:bodyPr vert="horz" lIns="91440" tIns="45720" rIns="91440" bIns="45720" rtlCol="0" anchor="t">
            <a:normAutofit/>
          </a:bodyPr>
          <a:lstStyle/>
          <a:p>
            <a:r>
              <a:rPr lang="en-US" sz="2800">
                <a:solidFill>
                  <a:schemeClr val="accent2">
                    <a:lumMod val="50000"/>
                  </a:schemeClr>
                </a:solidFill>
              </a:rPr>
              <a:t>“</a:t>
            </a:r>
            <a:r>
              <a:rPr lang="en-US" sz="2800" b="1">
                <a:solidFill>
                  <a:schemeClr val="accent2">
                    <a:lumMod val="50000"/>
                  </a:schemeClr>
                </a:solidFill>
                <a:latin typeface="Calibri"/>
                <a:ea typeface="Calibri"/>
                <a:cs typeface="Calibri"/>
              </a:rPr>
              <a:t>E-waste Recycler Gap</a:t>
            </a:r>
            <a:r>
              <a:rPr lang="en-US" sz="2800" dirty="0">
                <a:solidFill>
                  <a:schemeClr val="accent2">
                    <a:lumMod val="50000"/>
                  </a:schemeClr>
                </a:solidFill>
                <a:latin typeface="Times New Roman"/>
                <a:cs typeface="Times New Roman"/>
              </a:rPr>
              <a:t>”</a:t>
            </a:r>
          </a:p>
          <a:p>
            <a:r>
              <a:rPr lang="en-US" sz="2000" dirty="0">
                <a:solidFill>
                  <a:schemeClr val="accent2">
                    <a:lumMod val="50000"/>
                  </a:schemeClr>
                </a:solidFill>
                <a:latin typeface="Times New Roman" panose="02020603050405020304" pitchFamily="18" charset="0"/>
                <a:cs typeface="Times New Roman" panose="02020603050405020304" pitchFamily="18" charset="0"/>
              </a:rPr>
              <a:t>COURSE NAME : MINI PROJECT</a:t>
            </a:r>
          </a:p>
          <a:p>
            <a:r>
              <a:rPr lang="en-US" sz="2000" dirty="0">
                <a:solidFill>
                  <a:schemeClr val="accent2">
                    <a:lumMod val="50000"/>
                  </a:schemeClr>
                </a:solidFill>
                <a:latin typeface="Times New Roman" panose="02020603050405020304" pitchFamily="18" charset="0"/>
                <a:cs typeface="Times New Roman" panose="02020603050405020304" pitchFamily="18" charset="0"/>
              </a:rPr>
              <a:t>COURSE CODE:22CDS48</a:t>
            </a:r>
          </a:p>
        </p:txBody>
      </p:sp>
      <p:sp>
        <p:nvSpPr>
          <p:cNvPr id="4" name="Subtitle 2"/>
          <p:cNvSpPr txBox="1">
            <a:spLocks/>
          </p:cNvSpPr>
          <p:nvPr/>
        </p:nvSpPr>
        <p:spPr>
          <a:xfrm>
            <a:off x="152400" y="4495800"/>
            <a:ext cx="4191000" cy="2209800"/>
          </a:xfrm>
          <a:prstGeom prst="rect">
            <a:avLst/>
          </a:prstGeom>
        </p:spPr>
        <p:txBody>
          <a:bodyPr vert="horz" lIns="91440" tIns="45720" rIns="91440" bIns="45720" rtlCol="0" anchor="t">
            <a:normAutofit lnSpcReduction="10000"/>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Presentation by,</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sz="2600" dirty="0">
                <a:solidFill>
                  <a:schemeClr val="accent2">
                    <a:lumMod val="50000"/>
                  </a:schemeClr>
                </a:solidFill>
                <a:latin typeface="Times New Roman"/>
                <a:cs typeface="Times New Roman"/>
              </a:rPr>
              <a:t>NAME :Shreya B N</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sz="2600" dirty="0">
                <a:solidFill>
                  <a:schemeClr val="accent2">
                    <a:lumMod val="50000"/>
                  </a:schemeClr>
                </a:solidFill>
                <a:latin typeface="Times New Roman"/>
                <a:cs typeface="Times New Roman"/>
              </a:rPr>
              <a:t>              Thupalli Dharani</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sz="2600" dirty="0">
                <a:solidFill>
                  <a:schemeClr val="accent2">
                    <a:lumMod val="50000"/>
                  </a:schemeClr>
                </a:solidFill>
                <a:latin typeface="Times New Roman"/>
                <a:cs typeface="Times New Roman"/>
              </a:rPr>
              <a:t>USN: 1NH24CD151</a:t>
            </a:r>
          </a:p>
          <a:p>
            <a:pPr marL="0" marR="0" lvl="0" indent="0" defTabSz="914400" rtl="0" eaLnBrk="1" fontAlgn="auto" latinLnBrk="0" hangingPunct="1">
              <a:lnSpc>
                <a:spcPct val="100000"/>
              </a:lnSpc>
              <a:spcBef>
                <a:spcPct val="20000"/>
              </a:spcBef>
              <a:spcAft>
                <a:spcPts val="0"/>
              </a:spcAft>
              <a:buClrTx/>
              <a:buSzTx/>
              <a:buFont typeface="Arial" pitchFamily="34" charset="0"/>
              <a:buNone/>
              <a:tabLst/>
              <a:defRPr/>
            </a:pPr>
            <a:r>
              <a:rPr lang="en-US" sz="2600" dirty="0">
                <a:solidFill>
                  <a:schemeClr val="accent2">
                    <a:lumMod val="50000"/>
                  </a:schemeClr>
                </a:solidFill>
                <a:latin typeface="Times New Roman"/>
                <a:cs typeface="Times New Roman"/>
              </a:rPr>
              <a:t>          1NH24CD174</a:t>
            </a:r>
            <a:endParaRPr lang="en-US" dirty="0">
              <a:solidFill>
                <a:schemeClr val="accent2">
                  <a:lumMod val="50000"/>
                </a:schemeClr>
              </a:solidFill>
              <a:latin typeface="Times New Roman"/>
              <a:cs typeface="Times New Roman"/>
            </a:endParaRPr>
          </a:p>
        </p:txBody>
      </p:sp>
      <p:sp>
        <p:nvSpPr>
          <p:cNvPr id="5" name="Subtitle 2"/>
          <p:cNvSpPr txBox="1">
            <a:spLocks/>
          </p:cNvSpPr>
          <p:nvPr/>
        </p:nvSpPr>
        <p:spPr>
          <a:xfrm>
            <a:off x="4953000" y="4495800"/>
            <a:ext cx="3886200" cy="2209800"/>
          </a:xfrm>
          <a:prstGeom prst="rect">
            <a:avLst/>
          </a:prstGeom>
        </p:spPr>
        <p:txBody>
          <a:bodyPr vert="horz" lIns="91440" tIns="45720" rIns="91440" bIns="45720" rtlCol="0">
            <a:normAutofit/>
          </a:bodyPr>
          <a:lstStyle/>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rPr>
              <a:t>Under the Guidance of ,</a:t>
            </a: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600"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cs typeface="Times New Roman" panose="02020603050405020304" pitchFamily="18" charset="0"/>
              </a:rPr>
              <a:t>Guide Name</a:t>
            </a:r>
            <a:r>
              <a:rPr lang="en-US" sz="2600" dirty="0">
                <a:solidFill>
                  <a:schemeClr val="accent2">
                    <a:lumMod val="50000"/>
                  </a:schemeClr>
                </a:solidFill>
                <a:latin typeface="Times New Roman" panose="02020603050405020304" pitchFamily="18" charset="0"/>
                <a:cs typeface="Times New Roman" panose="02020603050405020304" pitchFamily="18" charset="0"/>
              </a:rPr>
              <a:t>: </a:t>
            </a:r>
            <a:r>
              <a:rPr lang="en-US" sz="2600" dirty="0" err="1">
                <a:solidFill>
                  <a:schemeClr val="accent2">
                    <a:lumMod val="50000"/>
                  </a:schemeClr>
                </a:solidFill>
                <a:latin typeface="Times New Roman" panose="02020603050405020304" pitchFamily="18" charset="0"/>
                <a:cs typeface="Times New Roman" panose="02020603050405020304" pitchFamily="18" charset="0"/>
              </a:rPr>
              <a:t>Ms</a:t>
            </a:r>
            <a:r>
              <a:rPr lang="en-US" sz="2600" dirty="0">
                <a:solidFill>
                  <a:schemeClr val="accent2">
                    <a:lumMod val="50000"/>
                  </a:schemeClr>
                </a:solidFill>
                <a:latin typeface="Times New Roman" panose="02020603050405020304" pitchFamily="18" charset="0"/>
                <a:cs typeface="Times New Roman" panose="02020603050405020304" pitchFamily="18" charset="0"/>
              </a:rPr>
              <a:t> ANJU K</a:t>
            </a:r>
            <a:endParaRPr kumimoji="0" lang="en-US" sz="2600"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0000"/>
              </a:lnSpc>
              <a:spcBef>
                <a:spcPct val="20000"/>
              </a:spcBef>
              <a:spcAft>
                <a:spcPts val="0"/>
              </a:spcAft>
              <a:buClrTx/>
              <a:buSzTx/>
              <a:buFont typeface="Arial" pitchFamily="34" charset="0"/>
              <a:buNone/>
              <a:tabLst/>
              <a:defRPr/>
            </a:pPr>
            <a:r>
              <a:rPr lang="en-US" sz="2600" dirty="0">
                <a:solidFill>
                  <a:schemeClr val="accent2">
                    <a:lumMod val="50000"/>
                  </a:schemeClr>
                </a:solidFill>
                <a:latin typeface="Times New Roman" panose="02020603050405020304" pitchFamily="18" charset="0"/>
                <a:cs typeface="Times New Roman" panose="02020603050405020304" pitchFamily="18" charset="0"/>
              </a:rPr>
              <a:t>Designation-Professor</a:t>
            </a:r>
            <a:endParaRPr kumimoji="0" lang="en-US" sz="2600" b="0" i="0" u="none" strike="noStrike" kern="1200" cap="none" spc="0" normalizeH="0" baseline="0" noProof="0" dirty="0">
              <a:ln>
                <a:noFill/>
              </a:ln>
              <a:solidFill>
                <a:schemeClr val="accent2">
                  <a:lumMod val="50000"/>
                </a:schemeClr>
              </a:solidFill>
              <a:effectLst/>
              <a:uLnTx/>
              <a:uFillTx/>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4054575-D32E-4E7F-92DE-41609BD42AC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600" y="235004"/>
            <a:ext cx="5472608" cy="9015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28600"/>
            <a:ext cx="8229600" cy="563562"/>
          </a:xfrm>
        </p:spPr>
        <p:txBody>
          <a:bodyPr>
            <a:normAutofit fontScale="90000"/>
          </a:bodyPr>
          <a:lstStyle/>
          <a:p>
            <a:r>
              <a:rPr lang="en-US" dirty="0">
                <a:solidFill>
                  <a:srgbClr val="FF0000"/>
                </a:solidFill>
                <a:latin typeface="Times New Roman" panose="02020603050405020304" pitchFamily="18" charset="0"/>
                <a:cs typeface="Times New Roman" panose="02020603050405020304" pitchFamily="18" charset="0"/>
              </a:rPr>
              <a:t>Agenda</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914400"/>
            <a:ext cx="8229600" cy="5211763"/>
          </a:xfrm>
        </p:spPr>
        <p:txBody>
          <a:bodyPr>
            <a:normAutofit/>
          </a:bodyPr>
          <a:lstStyle/>
          <a:p>
            <a:pPr>
              <a:buFont typeface="Wingdings" pitchFamily="2" charset="2"/>
              <a:buChar char="Ø"/>
            </a:pPr>
            <a:r>
              <a:rPr lang="en-US" dirty="0">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dirty="0">
                <a:latin typeface="Times New Roman" panose="02020603050405020304" pitchFamily="18" charset="0"/>
                <a:cs typeface="Times New Roman" panose="02020603050405020304" pitchFamily="18" charset="0"/>
              </a:rPr>
              <a:t>Literature survey / Existing system</a:t>
            </a:r>
          </a:p>
          <a:p>
            <a:pPr>
              <a:buFont typeface="Wingdings" pitchFamily="2" charset="2"/>
              <a:buChar char="Ø"/>
            </a:pPr>
            <a:r>
              <a:rPr lang="en-US" dirty="0">
                <a:latin typeface="Times New Roman" panose="02020603050405020304" pitchFamily="18" charset="0"/>
                <a:cs typeface="Times New Roman" panose="02020603050405020304" pitchFamily="18" charset="0"/>
              </a:rPr>
              <a:t>Limitations of Existing System</a:t>
            </a:r>
          </a:p>
          <a:p>
            <a:pPr>
              <a:buFont typeface="Wingdings" pitchFamily="2" charset="2"/>
              <a:buChar char="Ø"/>
            </a:pPr>
            <a:r>
              <a:rPr lang="en-US" dirty="0">
                <a:latin typeface="Times New Roman" panose="02020603050405020304" pitchFamily="18" charset="0"/>
                <a:cs typeface="Times New Roman" panose="02020603050405020304" pitchFamily="18" charset="0"/>
              </a:rPr>
              <a:t>Problem Definition</a:t>
            </a:r>
          </a:p>
          <a:p>
            <a:pPr>
              <a:buFont typeface="Wingdings" pitchFamily="2" charset="2"/>
              <a:buChar char="Ø"/>
            </a:pPr>
            <a:r>
              <a:rPr lang="en-US" dirty="0">
                <a:latin typeface="Times New Roman" panose="02020603050405020304" pitchFamily="18" charset="0"/>
                <a:cs typeface="Times New Roman" panose="02020603050405020304" pitchFamily="18" charset="0"/>
              </a:rPr>
              <a:t>Proposed system</a:t>
            </a:r>
          </a:p>
          <a:p>
            <a:pPr>
              <a:buFont typeface="Wingdings" pitchFamily="2" charset="2"/>
              <a:buChar char="Ø"/>
            </a:pPr>
            <a:r>
              <a:rPr lang="en-US" dirty="0">
                <a:latin typeface="Times New Roman" panose="02020603050405020304" pitchFamily="18" charset="0"/>
                <a:cs typeface="Times New Roman" panose="02020603050405020304" pitchFamily="18" charset="0"/>
              </a:rPr>
              <a:t>Objectives</a:t>
            </a:r>
          </a:p>
          <a:p>
            <a:pPr>
              <a:buFont typeface="Wingdings" pitchFamily="2" charset="2"/>
              <a:buChar char="Ø"/>
            </a:pPr>
            <a:r>
              <a:rPr lang="en-US" dirty="0">
                <a:latin typeface="Times New Roman" panose="02020603050405020304" pitchFamily="18" charset="0"/>
                <a:cs typeface="Times New Roman" panose="02020603050405020304" pitchFamily="18" charset="0"/>
              </a:rPr>
              <a:t>Design modules</a:t>
            </a:r>
          </a:p>
          <a:p>
            <a:pPr>
              <a:buFont typeface="Wingdings" pitchFamily="2" charset="2"/>
              <a:buChar char="Ø"/>
            </a:pPr>
            <a:r>
              <a:rPr lang="en-US" dirty="0">
                <a:latin typeface="Times New Roman" panose="02020603050405020304" pitchFamily="18" charset="0"/>
                <a:cs typeface="Times New Roman" panose="02020603050405020304" pitchFamily="18" charset="0"/>
              </a:rPr>
              <a:t>Algorithm / Flow chart</a:t>
            </a:r>
          </a:p>
          <a:p>
            <a:pPr>
              <a:buFont typeface="Wingdings" pitchFamily="2" charset="2"/>
              <a:buChar char="Ø"/>
            </a:pPr>
            <a:r>
              <a:rPr lang="en-US" dirty="0">
                <a:latin typeface="Times New Roman" panose="02020603050405020304" pitchFamily="18" charset="0"/>
                <a:cs typeface="Times New Roman" panose="02020603050405020304" pitchFamily="18" charset="0"/>
              </a:rPr>
              <a:t>Conclusion</a:t>
            </a:r>
          </a:p>
          <a:p>
            <a:pPr marL="0" indent="0">
              <a:buNone/>
            </a:pPr>
            <a:endParaRPr lang="en-US" dirty="0">
              <a:latin typeface="Times New Roman" panose="02020603050405020304" pitchFamily="18" charset="0"/>
              <a:cs typeface="Times New Roman" panose="02020603050405020304" pitchFamily="18" charset="0"/>
            </a:endParaRPr>
          </a:p>
          <a:p>
            <a:pPr>
              <a:buFont typeface="Wingdings"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itchFamily="2" charset="2"/>
              <a:buChar char="Ø"/>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6DC52D0C-C379-43B3-817E-33092A01F230}" type="datetime1">
              <a:rPr lang="en-US" smtClean="0"/>
              <a:t>4/28/2026</a:t>
            </a:fld>
            <a:endParaRPr lang="en-US"/>
          </a:p>
        </p:txBody>
      </p:sp>
      <p:sp>
        <p:nvSpPr>
          <p:cNvPr id="5" name="Footer Placeholder 4"/>
          <p:cNvSpPr>
            <a:spLocks noGrp="1"/>
          </p:cNvSpPr>
          <p:nvPr>
            <p:ph type="ftr" sz="quarter" idx="11"/>
          </p:nvPr>
        </p:nvSpPr>
        <p:spPr/>
        <p:txBody>
          <a:bodyPr/>
          <a:lstStyle/>
          <a:p>
            <a:r>
              <a:rPr lang="en-US" dirty="0"/>
              <a:t>Mini Project -22CDS48</a:t>
            </a:r>
          </a:p>
        </p:txBody>
      </p:sp>
      <p:sp>
        <p:nvSpPr>
          <p:cNvPr id="6" name="Slide Number Placeholder 5"/>
          <p:cNvSpPr>
            <a:spLocks noGrp="1"/>
          </p:cNvSpPr>
          <p:nvPr>
            <p:ph type="sldNum" sz="quarter" idx="12"/>
          </p:nvPr>
        </p:nvSpPr>
        <p:spPr/>
        <p:txBody>
          <a:bodyPr/>
          <a:lstStyle/>
          <a:p>
            <a:fld id="{3C0F9C3E-79AB-4D1D-AF94-F9B1D785080B}"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6877"/>
            <a:ext cx="7990184" cy="1132258"/>
          </a:xfrm>
        </p:spPr>
        <p:txBody>
          <a:bodyPr/>
          <a:lstStyle/>
          <a:p>
            <a:r>
              <a:rPr lang="en-US" sz="4000" dirty="0">
                <a:solidFill>
                  <a:srgbClr val="FF0000"/>
                </a:solidFill>
                <a:latin typeface="Times New Roman" panose="02020603050405020304" pitchFamily="18" charset="0"/>
                <a:cs typeface="Times New Roman" panose="02020603050405020304" pitchFamily="18" charset="0"/>
              </a:rPr>
              <a:t>Introduction</a:t>
            </a:r>
            <a:r>
              <a:rPr lang="en-US" dirty="0">
                <a:solidFill>
                  <a:srgbClr val="FF0000"/>
                </a:solidFill>
              </a:rPr>
              <a:t> </a:t>
            </a:r>
          </a:p>
        </p:txBody>
      </p:sp>
      <p:sp>
        <p:nvSpPr>
          <p:cNvPr id="3" name="Content Placeholder 2"/>
          <p:cNvSpPr>
            <a:spLocks noGrp="1"/>
          </p:cNvSpPr>
          <p:nvPr>
            <p:ph idx="1"/>
          </p:nvPr>
        </p:nvSpPr>
        <p:spPr>
          <a:xfrm>
            <a:off x="440267" y="964588"/>
            <a:ext cx="8229600" cy="4928823"/>
          </a:xfrm>
        </p:spPr>
        <p:txBody>
          <a:bodyPr vert="horz" lIns="91440" tIns="45720" rIns="91440" bIns="45720" rtlCol="0" anchor="t">
            <a:normAutofit lnSpcReduction="10000"/>
          </a:bodyPr>
          <a:lstStyle/>
          <a:p>
            <a:r>
              <a:rPr lang="en-IN" dirty="0">
                <a:latin typeface="Times New Roman" panose="02020603050405020304" pitchFamily="18" charset="0"/>
                <a:cs typeface="Times New Roman" panose="02020603050405020304" pitchFamily="18" charset="0"/>
              </a:rPr>
              <a:t>Discarded electronics (phones, laptops, TVs, batteries) at end-of-life; India is the 3rd largest generator (~13.97 lakh MT in FY 2024–25, Central Pollution Control Board). </a:t>
            </a:r>
          </a:p>
          <a:p>
            <a:r>
              <a:rPr lang="en-IN" dirty="0">
                <a:latin typeface="Times New Roman" panose="02020603050405020304" pitchFamily="18" charset="0"/>
                <a:cs typeface="Times New Roman" panose="02020603050405020304" pitchFamily="18" charset="0"/>
              </a:rPr>
              <a:t>Bengaluru generates ~92,000 tonnes annually, with ~30% mismanaged (Karnataka State Pollution Control Board).</a:t>
            </a:r>
          </a:p>
          <a:p>
            <a:r>
              <a:rPr lang="en-IN" dirty="0">
                <a:latin typeface="Times New Roman" panose="02020603050405020304" pitchFamily="18" charset="0"/>
                <a:cs typeface="Times New Roman" panose="02020603050405020304" pitchFamily="18" charset="0"/>
              </a:rPr>
              <a:t>Extended Producer Responsibility mandates manufacturers to collect and recycle a percentage of sold products.</a:t>
            </a:r>
          </a:p>
          <a:p>
            <a:r>
              <a:rPr lang="en-IN" dirty="0">
                <a:latin typeface="Times New Roman" panose="02020603050405020304" pitchFamily="18" charset="0"/>
                <a:cs typeface="Times New Roman" panose="02020603050405020304" pitchFamily="18" charset="0"/>
              </a:rPr>
              <a:t>Recycle Gap Score indicates recycling stress; higher score = poorer infrastructure, often due to capacity overload.</a:t>
            </a:r>
          </a:p>
          <a:p>
            <a:r>
              <a:rPr lang="en-IN" dirty="0">
                <a:latin typeface="Times New Roman" panose="02020603050405020304" pitchFamily="18" charset="0"/>
                <a:cs typeface="Times New Roman" panose="02020603050405020304" pitchFamily="18" charset="0"/>
              </a:rPr>
              <a:t>Supports E-Waste Management Rules 2022 compliance and helps companies (Dell, Philips) and regulators optimize collection and infrastructure planning.</a:t>
            </a:r>
            <a:endParaRPr lang="en-US" u="sng"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CEE0E53-1004-4A55-9044-59FA885CFCCA}" type="datetime1">
              <a:rPr lang="en-US" smtClean="0"/>
              <a:t>4/28/2026</a:t>
            </a:fld>
            <a:endParaRPr lang="en-US" dirty="0"/>
          </a:p>
        </p:txBody>
      </p:sp>
      <p:sp>
        <p:nvSpPr>
          <p:cNvPr id="5" name="Footer Placeholder 4"/>
          <p:cNvSpPr>
            <a:spLocks noGrp="1"/>
          </p:cNvSpPr>
          <p:nvPr>
            <p:ph type="ftr" sz="quarter" idx="11"/>
          </p:nvPr>
        </p:nvSpPr>
        <p:spPr/>
        <p:txBody>
          <a:bodyPr/>
          <a:lstStyle/>
          <a:p>
            <a:r>
              <a:rPr lang="en-US" dirty="0"/>
              <a:t>Mini Project - 22CDS48</a:t>
            </a:r>
          </a:p>
        </p:txBody>
      </p:sp>
      <p:sp>
        <p:nvSpPr>
          <p:cNvPr id="6" name="Slide Number Placeholder 5"/>
          <p:cNvSpPr>
            <a:spLocks noGrp="1"/>
          </p:cNvSpPr>
          <p:nvPr>
            <p:ph type="sldNum" sz="quarter" idx="12"/>
          </p:nvPr>
        </p:nvSpPr>
        <p:spPr/>
        <p:txBody>
          <a:bodyPr/>
          <a:lstStyle/>
          <a:p>
            <a:fld id="{3C0F9C3E-79AB-4D1D-AF94-F9B1D785080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939"/>
            <a:ext cx="8026021" cy="559312"/>
          </a:xfrm>
        </p:spPr>
        <p:txBody>
          <a:bodyPr>
            <a:normAutofit fontScale="90000"/>
          </a:bodyPr>
          <a:lstStyle/>
          <a:p>
            <a:r>
              <a:rPr lang="en-US" sz="4000" dirty="0">
                <a:solidFill>
                  <a:srgbClr val="FF0000"/>
                </a:solidFill>
                <a:latin typeface="Times New Roman"/>
                <a:cs typeface="Times New Roman"/>
              </a:rPr>
              <a:t>Literature survey / Existing systems</a:t>
            </a:r>
          </a:p>
        </p:txBody>
      </p:sp>
      <p:sp>
        <p:nvSpPr>
          <p:cNvPr id="3" name="Content Placeholder 2"/>
          <p:cNvSpPr>
            <a:spLocks noGrp="1"/>
          </p:cNvSpPr>
          <p:nvPr>
            <p:ph idx="1"/>
          </p:nvPr>
        </p:nvSpPr>
        <p:spPr>
          <a:xfrm>
            <a:off x="466569" y="813217"/>
            <a:ext cx="8257706" cy="5547167"/>
          </a:xfrm>
        </p:spPr>
        <p:txBody>
          <a:bodyPr vert="horz" lIns="91440" tIns="45720" rIns="91440" bIns="45720" rtlCol="0" anchor="t">
            <a:normAutofit/>
          </a:bodyPr>
          <a:lstStyle/>
          <a:p>
            <a:pPr>
              <a:buNone/>
            </a:pPr>
            <a:endParaRPr lang="en-US" sz="4300" dirty="0"/>
          </a:p>
          <a:p>
            <a:endParaRPr lang="en-US" dirty="0"/>
          </a:p>
        </p:txBody>
      </p:sp>
      <p:sp>
        <p:nvSpPr>
          <p:cNvPr id="4" name="Date Placeholder 3"/>
          <p:cNvSpPr>
            <a:spLocks noGrp="1"/>
          </p:cNvSpPr>
          <p:nvPr>
            <p:ph type="dt" sz="half" idx="10"/>
          </p:nvPr>
        </p:nvSpPr>
        <p:spPr>
          <a:xfrm>
            <a:off x="0" y="6514499"/>
            <a:ext cx="2620736" cy="365125"/>
          </a:xfrm>
        </p:spPr>
        <p:txBody>
          <a:bodyPr/>
          <a:lstStyle/>
          <a:p>
            <a:fld id="{6303F359-BA4E-420B-98AF-421EC1E2CE51}" type="datetime1">
              <a:rPr lang="en-US" smtClean="0"/>
              <a:t>4/28/2026</a:t>
            </a:fld>
            <a:endParaRPr lang="en-US" dirty="0"/>
          </a:p>
        </p:txBody>
      </p:sp>
      <p:sp>
        <p:nvSpPr>
          <p:cNvPr id="5" name="Footer Placeholder 4"/>
          <p:cNvSpPr>
            <a:spLocks noGrp="1"/>
          </p:cNvSpPr>
          <p:nvPr>
            <p:ph type="ftr" sz="quarter" idx="11"/>
          </p:nvPr>
        </p:nvSpPr>
        <p:spPr>
          <a:xfrm>
            <a:off x="6648823" y="6514500"/>
            <a:ext cx="2104054" cy="365125"/>
          </a:xfrm>
        </p:spPr>
        <p:txBody>
          <a:bodyPr/>
          <a:lstStyle/>
          <a:p>
            <a:r>
              <a:rPr lang="en-US" dirty="0"/>
              <a:t>Mini Project - 22CDS48</a:t>
            </a:r>
          </a:p>
        </p:txBody>
      </p:sp>
      <p:sp>
        <p:nvSpPr>
          <p:cNvPr id="6" name="Slide Number Placeholder 5"/>
          <p:cNvSpPr>
            <a:spLocks noGrp="1"/>
          </p:cNvSpPr>
          <p:nvPr>
            <p:ph type="sldNum" sz="quarter" idx="12"/>
          </p:nvPr>
        </p:nvSpPr>
        <p:spPr>
          <a:xfrm>
            <a:off x="8724275" y="6514499"/>
            <a:ext cx="321905" cy="365125"/>
          </a:xfrm>
        </p:spPr>
        <p:txBody>
          <a:bodyPr/>
          <a:lstStyle/>
          <a:p>
            <a:fld id="{3C0F9C3E-79AB-4D1D-AF94-F9B1D785080B}" type="slidenum">
              <a:rPr lang="en-US" smtClean="0"/>
              <a:pPr/>
              <a:t>4</a:t>
            </a:fld>
            <a:endParaRPr lang="en-US" dirty="0"/>
          </a:p>
        </p:txBody>
      </p:sp>
      <p:graphicFrame>
        <p:nvGraphicFramePr>
          <p:cNvPr id="12" name="Table 11">
            <a:extLst>
              <a:ext uri="{FF2B5EF4-FFF2-40B4-BE49-F238E27FC236}">
                <a16:creationId xmlns:a16="http://schemas.microsoft.com/office/drawing/2014/main" id="{0ED9C1B7-7F42-B1AF-EED6-BFB6A1E3BC35}"/>
              </a:ext>
            </a:extLst>
          </p:cNvPr>
          <p:cNvGraphicFramePr>
            <a:graphicFrameLocks noGrp="1"/>
          </p:cNvGraphicFramePr>
          <p:nvPr>
            <p:extLst>
              <p:ext uri="{D42A27DB-BD31-4B8C-83A1-F6EECF244321}">
                <p14:modId xmlns:p14="http://schemas.microsoft.com/office/powerpoint/2010/main" val="552433935"/>
              </p:ext>
            </p:extLst>
          </p:nvPr>
        </p:nvGraphicFramePr>
        <p:xfrm>
          <a:off x="497565" y="634536"/>
          <a:ext cx="7990184" cy="5904527"/>
        </p:xfrm>
        <a:graphic>
          <a:graphicData uri="http://schemas.openxmlformats.org/drawingml/2006/table">
            <a:tbl>
              <a:tblPr firstRow="1" bandRow="1">
                <a:tableStyleId>{5940675A-B579-460E-94D1-54222C63F5DA}</a:tableStyleId>
              </a:tblPr>
              <a:tblGrid>
                <a:gridCol w="1997546">
                  <a:extLst>
                    <a:ext uri="{9D8B030D-6E8A-4147-A177-3AD203B41FA5}">
                      <a16:colId xmlns:a16="http://schemas.microsoft.com/office/drawing/2014/main" val="3590926020"/>
                    </a:ext>
                  </a:extLst>
                </a:gridCol>
                <a:gridCol w="1997546">
                  <a:extLst>
                    <a:ext uri="{9D8B030D-6E8A-4147-A177-3AD203B41FA5}">
                      <a16:colId xmlns:a16="http://schemas.microsoft.com/office/drawing/2014/main" val="2469071856"/>
                    </a:ext>
                  </a:extLst>
                </a:gridCol>
                <a:gridCol w="1997546">
                  <a:extLst>
                    <a:ext uri="{9D8B030D-6E8A-4147-A177-3AD203B41FA5}">
                      <a16:colId xmlns:a16="http://schemas.microsoft.com/office/drawing/2014/main" val="986943525"/>
                    </a:ext>
                  </a:extLst>
                </a:gridCol>
                <a:gridCol w="1997546">
                  <a:extLst>
                    <a:ext uri="{9D8B030D-6E8A-4147-A177-3AD203B41FA5}">
                      <a16:colId xmlns:a16="http://schemas.microsoft.com/office/drawing/2014/main" val="729725403"/>
                    </a:ext>
                  </a:extLst>
                </a:gridCol>
              </a:tblGrid>
              <a:tr h="449015">
                <a:tc>
                  <a:txBody>
                    <a:bodyPr/>
                    <a:lstStyle/>
                    <a:p>
                      <a:pPr algn="l" fontAlgn="ctr">
                        <a:buNone/>
                      </a:pPr>
                      <a:r>
                        <a:rPr lang="en-IN" sz="1400" b="1" dirty="0">
                          <a:solidFill>
                            <a:schemeClr val="bg2">
                              <a:lumMod val="10000"/>
                            </a:schemeClr>
                          </a:solidFill>
                          <a:effectLst/>
                          <a:latin typeface="Times New Roman" panose="02020603050405020304" pitchFamily="18" charset="0"/>
                          <a:cs typeface="Times New Roman" panose="02020603050405020304" pitchFamily="18" charset="0"/>
                        </a:rPr>
                        <a:t>Author &amp; Year</a:t>
                      </a:r>
                    </a:p>
                  </a:txBody>
                  <a:tcPr marL="76200" marR="76200" marT="68580" marB="68580" anchor="ctr"/>
                </a:tc>
                <a:tc>
                  <a:txBody>
                    <a:bodyPr/>
                    <a:lstStyle/>
                    <a:p>
                      <a:pPr algn="l" fontAlgn="ctr">
                        <a:buNone/>
                      </a:pPr>
                      <a:r>
                        <a:rPr lang="en-IN" sz="1400" b="1" dirty="0">
                          <a:solidFill>
                            <a:schemeClr val="bg2">
                              <a:lumMod val="10000"/>
                            </a:schemeClr>
                          </a:solidFill>
                          <a:effectLst/>
                          <a:latin typeface="Times New Roman" panose="02020603050405020304" pitchFamily="18" charset="0"/>
                          <a:cs typeface="Times New Roman" panose="02020603050405020304" pitchFamily="18" charset="0"/>
                        </a:rPr>
                        <a:t>Title / Approach</a:t>
                      </a:r>
                    </a:p>
                  </a:txBody>
                  <a:tcPr marL="76200" marR="76200" marT="68580" marB="68580" anchor="ctr"/>
                </a:tc>
                <a:tc>
                  <a:txBody>
                    <a:bodyPr/>
                    <a:lstStyle/>
                    <a:p>
                      <a:pPr algn="l" fontAlgn="ctr">
                        <a:buNone/>
                      </a:pPr>
                      <a:r>
                        <a:rPr lang="en-IN" sz="1400" b="1" dirty="0">
                          <a:solidFill>
                            <a:schemeClr val="bg2">
                              <a:lumMod val="10000"/>
                            </a:schemeClr>
                          </a:solidFill>
                          <a:effectLst/>
                          <a:latin typeface="Times New Roman" panose="02020603050405020304" pitchFamily="18" charset="0"/>
                          <a:cs typeface="Times New Roman" panose="02020603050405020304" pitchFamily="18" charset="0"/>
                        </a:rPr>
                        <a:t>Key Finding</a:t>
                      </a:r>
                    </a:p>
                  </a:txBody>
                  <a:tcPr marL="76200" marR="76200" marT="68580" marB="68580" anchor="ctr"/>
                </a:tc>
                <a:tc>
                  <a:txBody>
                    <a:bodyPr/>
                    <a:lstStyle/>
                    <a:p>
                      <a:pPr algn="l" fontAlgn="ctr">
                        <a:buNone/>
                      </a:pPr>
                      <a:r>
                        <a:rPr lang="en-IN" sz="1400" b="1" dirty="0">
                          <a:solidFill>
                            <a:schemeClr val="bg2">
                              <a:lumMod val="10000"/>
                            </a:schemeClr>
                          </a:solidFill>
                          <a:effectLst/>
                          <a:latin typeface="Times New Roman" panose="02020603050405020304" pitchFamily="18" charset="0"/>
                          <a:cs typeface="Times New Roman" panose="02020603050405020304" pitchFamily="18" charset="0"/>
                        </a:rPr>
                        <a:t>Research Gap Identified</a:t>
                      </a:r>
                    </a:p>
                  </a:txBody>
                  <a:tcPr marL="76200" marR="76200" marT="68580" marB="68580" anchor="ctr"/>
                </a:tc>
                <a:extLst>
                  <a:ext uri="{0D108BD9-81ED-4DB2-BD59-A6C34878D82A}">
                    <a16:rowId xmlns:a16="http://schemas.microsoft.com/office/drawing/2014/main" val="1245710731"/>
                  </a:ext>
                </a:extLst>
              </a:tr>
              <a:tr h="939475">
                <a:tc>
                  <a:txBody>
                    <a:bodyPr/>
                    <a:lstStyle/>
                    <a:p>
                      <a:pPr fontAlgn="t">
                        <a:buNone/>
                      </a:pPr>
                      <a:r>
                        <a:rPr lang="en-IN" sz="1200" b="0" dirty="0">
                          <a:solidFill>
                            <a:srgbClr val="141413"/>
                          </a:solidFill>
                          <a:effectLst/>
                          <a:latin typeface="Times New Roman" panose="02020603050405020304" pitchFamily="18" charset="0"/>
                          <a:cs typeface="Times New Roman" panose="02020603050405020304" pitchFamily="18" charset="0"/>
                        </a:rPr>
                        <a:t>Joseph N., Philip L., Bhattacharyya T.</a:t>
                      </a:r>
                    </a:p>
                    <a:p>
                      <a:pPr fontAlgn="t">
                        <a:buNone/>
                      </a:pPr>
                      <a:r>
                        <a:rPr lang="en-IN" sz="1200" b="0" dirty="0">
                          <a:solidFill>
                            <a:srgbClr val="3D3D3A"/>
                          </a:solidFill>
                          <a:effectLst/>
                          <a:latin typeface="Times New Roman" panose="02020603050405020304" pitchFamily="18" charset="0"/>
                          <a:cs typeface="Times New Roman" panose="02020603050405020304" pitchFamily="18" charset="0"/>
                        </a:rPr>
                        <a:t>2021 — Waste Management, Elsevier</a:t>
                      </a: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Gap between formal &amp; informal e-waste recycling facilities in India</a:t>
                      </a:r>
                    </a:p>
                    <a:p>
                      <a:pPr fontAlgn="t">
                        <a:spcBef>
                          <a:spcPts val="75"/>
                        </a:spcBef>
                        <a:buNone/>
                      </a:pPr>
                      <a:r>
                        <a:rPr lang="en-US" sz="1200">
                          <a:solidFill>
                            <a:srgbClr val="3D3D3A"/>
                          </a:solidFill>
                          <a:effectLst/>
                          <a:latin typeface="Times New Roman" panose="02020603050405020304" pitchFamily="18" charset="0"/>
                          <a:cs typeface="Times New Roman" panose="02020603050405020304" pitchFamily="18" charset="0"/>
                        </a:rPr>
                        <a:t>Facility-level comparative study</a:t>
                      </a:r>
                      <a:endParaRPr lang="en-US" sz="1200" i="1">
                        <a:solidFill>
                          <a:srgbClr val="3D3D3A"/>
                        </a:solidFill>
                        <a:effectLst/>
                        <a:latin typeface="Times New Roman" panose="02020603050405020304" pitchFamily="18" charset="0"/>
                        <a:cs typeface="Times New Roman" panose="02020603050405020304" pitchFamily="18" charset="0"/>
                      </a:endParaRP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Informal sector dominates due to lower costs &amp; wider reach; formal sector lacks raw e-waste supply</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No digital bridge between informal collectors and formal recyclers; no ward-level collection data</a:t>
                      </a:r>
                    </a:p>
                  </a:txBody>
                  <a:tcPr marL="76200" marR="76200" marT="53340" marB="53340"/>
                </a:tc>
                <a:extLst>
                  <a:ext uri="{0D108BD9-81ED-4DB2-BD59-A6C34878D82A}">
                    <a16:rowId xmlns:a16="http://schemas.microsoft.com/office/drawing/2014/main" val="739032988"/>
                  </a:ext>
                </a:extLst>
              </a:tr>
              <a:tr h="1088389">
                <a:tc>
                  <a:txBody>
                    <a:bodyPr/>
                    <a:lstStyle/>
                    <a:p>
                      <a:pPr fontAlgn="t">
                        <a:buNone/>
                      </a:pPr>
                      <a:r>
                        <a:rPr lang="en-IN" sz="1200" b="0" dirty="0">
                          <a:solidFill>
                            <a:srgbClr val="141413"/>
                          </a:solidFill>
                          <a:effectLst/>
                          <a:latin typeface="Times New Roman" panose="02020603050405020304" pitchFamily="18" charset="0"/>
                          <a:cs typeface="Times New Roman" panose="02020603050405020304" pitchFamily="18" charset="0"/>
                        </a:rPr>
                        <a:t>Sengupta D., </a:t>
                      </a:r>
                      <a:r>
                        <a:rPr lang="en-IN" sz="1200" b="0" dirty="0" err="1">
                          <a:solidFill>
                            <a:srgbClr val="141413"/>
                          </a:solidFill>
                          <a:effectLst/>
                          <a:latin typeface="Times New Roman" panose="02020603050405020304" pitchFamily="18" charset="0"/>
                          <a:cs typeface="Times New Roman" panose="02020603050405020304" pitchFamily="18" charset="0"/>
                        </a:rPr>
                        <a:t>Ilankoon</a:t>
                      </a:r>
                      <a:r>
                        <a:rPr lang="en-IN" sz="1200" b="0" dirty="0">
                          <a:solidFill>
                            <a:srgbClr val="141413"/>
                          </a:solidFill>
                          <a:effectLst/>
                          <a:latin typeface="Times New Roman" panose="02020603050405020304" pitchFamily="18" charset="0"/>
                          <a:cs typeface="Times New Roman" panose="02020603050405020304" pitchFamily="18" charset="0"/>
                        </a:rPr>
                        <a:t> I.M.S.K., et al.</a:t>
                      </a:r>
                    </a:p>
                    <a:p>
                      <a:pPr fontAlgn="t">
                        <a:buNone/>
                      </a:pPr>
                      <a:r>
                        <a:rPr lang="en-IN" sz="1200" b="0" dirty="0">
                          <a:solidFill>
                            <a:srgbClr val="3D3D3A"/>
                          </a:solidFill>
                          <a:effectLst/>
                          <a:latin typeface="Times New Roman" panose="02020603050405020304" pitchFamily="18" charset="0"/>
                          <a:cs typeface="Times New Roman" panose="02020603050405020304" pitchFamily="18" charset="0"/>
                        </a:rPr>
                        <a:t>2022 — Minerals Engineering, Elsevier</a:t>
                      </a: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Circular economy &amp; household e-waste management — integration of formal &amp; informal sectors</a:t>
                      </a:r>
                    </a:p>
                    <a:p>
                      <a:pPr fontAlgn="t">
                        <a:spcBef>
                          <a:spcPts val="75"/>
                        </a:spcBef>
                        <a:buNone/>
                      </a:pPr>
                      <a:r>
                        <a:rPr lang="en-US" sz="1200">
                          <a:solidFill>
                            <a:srgbClr val="3D3D3A"/>
                          </a:solidFill>
                          <a:effectLst/>
                          <a:latin typeface="Times New Roman" panose="02020603050405020304" pitchFamily="18" charset="0"/>
                          <a:cs typeface="Times New Roman" panose="02020603050405020304" pitchFamily="18" charset="0"/>
                        </a:rPr>
                        <a:t>Modified EPR model</a:t>
                      </a:r>
                      <a:endParaRPr lang="en-US" sz="1200" i="1">
                        <a:solidFill>
                          <a:srgbClr val="3D3D3A"/>
                        </a:solidFill>
                        <a:effectLst/>
                        <a:latin typeface="Times New Roman" panose="02020603050405020304" pitchFamily="18" charset="0"/>
                        <a:cs typeface="Times New Roman" panose="02020603050405020304" pitchFamily="18" charset="0"/>
                      </a:endParaRP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India's formal recycling rate below 10%; proposed EPR model to register kabadiwalas under SPCBs</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Model is theoretical; no implementation platform or citizen-facing interface proposed</a:t>
                      </a:r>
                    </a:p>
                  </a:txBody>
                  <a:tcPr marL="76200" marR="76200" marT="53340" marB="53340"/>
                </a:tc>
                <a:extLst>
                  <a:ext uri="{0D108BD9-81ED-4DB2-BD59-A6C34878D82A}">
                    <a16:rowId xmlns:a16="http://schemas.microsoft.com/office/drawing/2014/main" val="3552434680"/>
                  </a:ext>
                </a:extLst>
              </a:tr>
              <a:tr h="1088389">
                <a:tc>
                  <a:txBody>
                    <a:bodyPr/>
                    <a:lstStyle/>
                    <a:p>
                      <a:pPr fontAlgn="t">
                        <a:buNone/>
                      </a:pPr>
                      <a:r>
                        <a:rPr lang="en-US" sz="1200" b="0" dirty="0">
                          <a:solidFill>
                            <a:srgbClr val="141413"/>
                          </a:solidFill>
                          <a:effectLst/>
                          <a:latin typeface="Times New Roman" panose="02020603050405020304" pitchFamily="18" charset="0"/>
                          <a:cs typeface="Times New Roman" panose="02020603050405020304" pitchFamily="18" charset="0"/>
                        </a:rPr>
                        <a:t>Singh S., Dasgupta M.S., Routroy S.</a:t>
                      </a:r>
                    </a:p>
                    <a:p>
                      <a:pPr fontAlgn="t">
                        <a:buNone/>
                      </a:pPr>
                      <a:r>
                        <a:rPr lang="en-US" sz="1200" b="0" dirty="0">
                          <a:solidFill>
                            <a:srgbClr val="3D3D3A"/>
                          </a:solidFill>
                          <a:effectLst/>
                          <a:latin typeface="Times New Roman" panose="02020603050405020304" pitchFamily="18" charset="0"/>
                          <a:cs typeface="Times New Roman" panose="02020603050405020304" pitchFamily="18" charset="0"/>
                        </a:rPr>
                        <a:t>2022 — Waste Management &amp; Research, SAGE</a:t>
                      </a: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Evaluation of sustainable e-waste collection methods for urban &amp; rural India</a:t>
                      </a:r>
                    </a:p>
                    <a:p>
                      <a:pPr fontAlgn="t">
                        <a:spcBef>
                          <a:spcPts val="75"/>
                        </a:spcBef>
                        <a:buNone/>
                      </a:pPr>
                      <a:r>
                        <a:rPr lang="en-US" sz="1200">
                          <a:solidFill>
                            <a:srgbClr val="3D3D3A"/>
                          </a:solidFill>
                          <a:effectLst/>
                          <a:latin typeface="Times New Roman" panose="02020603050405020304" pitchFamily="18" charset="0"/>
                          <a:cs typeface="Times New Roman" panose="02020603050405020304" pitchFamily="18" charset="0"/>
                        </a:rPr>
                        <a:t>Multi-method comparative analysis</a:t>
                      </a:r>
                      <a:endParaRPr lang="en-US" sz="1200" i="1">
                        <a:solidFill>
                          <a:srgbClr val="3D3D3A"/>
                        </a:solidFill>
                        <a:effectLst/>
                        <a:latin typeface="Times New Roman" panose="02020603050405020304" pitchFamily="18" charset="0"/>
                        <a:cs typeface="Times New Roman" panose="02020603050405020304" pitchFamily="18" charset="0"/>
                      </a:endParaRP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Door-to-door collection most effective for urban India; formal take-back poorly adopted</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No technology-enabled scheduling or route </a:t>
                      </a:r>
                      <a:r>
                        <a:rPr lang="en-US" sz="1200" dirty="0" err="1">
                          <a:solidFill>
                            <a:srgbClr val="141413"/>
                          </a:solidFill>
                          <a:effectLst/>
                          <a:latin typeface="Times New Roman" panose="02020603050405020304" pitchFamily="18" charset="0"/>
                          <a:cs typeface="Times New Roman" panose="02020603050405020304" pitchFamily="18" charset="0"/>
                        </a:rPr>
                        <a:t>optimisation</a:t>
                      </a:r>
                      <a:r>
                        <a:rPr lang="en-US" sz="1200" dirty="0">
                          <a:solidFill>
                            <a:srgbClr val="141413"/>
                          </a:solidFill>
                          <a:effectLst/>
                          <a:latin typeface="Times New Roman" panose="02020603050405020304" pitchFamily="18" charset="0"/>
                          <a:cs typeface="Times New Roman" panose="02020603050405020304" pitchFamily="18" charset="0"/>
                        </a:rPr>
                        <a:t> system proposed for urban wards</a:t>
                      </a:r>
                    </a:p>
                  </a:txBody>
                  <a:tcPr marL="76200" marR="76200" marT="53340" marB="53340"/>
                </a:tc>
                <a:extLst>
                  <a:ext uri="{0D108BD9-81ED-4DB2-BD59-A6C34878D82A}">
                    <a16:rowId xmlns:a16="http://schemas.microsoft.com/office/drawing/2014/main" val="4009052584"/>
                  </a:ext>
                </a:extLst>
              </a:tr>
              <a:tr h="1105672">
                <a:tc>
                  <a:txBody>
                    <a:bodyPr/>
                    <a:lstStyle/>
                    <a:p>
                      <a:pPr fontAlgn="t">
                        <a:buNone/>
                      </a:pPr>
                      <a:r>
                        <a:rPr lang="en-IN" sz="1200" b="0" dirty="0" err="1">
                          <a:solidFill>
                            <a:srgbClr val="141413"/>
                          </a:solidFill>
                          <a:effectLst/>
                          <a:latin typeface="Times New Roman" panose="02020603050405020304" pitchFamily="18" charset="0"/>
                          <a:cs typeface="Times New Roman" panose="02020603050405020304" pitchFamily="18" charset="0"/>
                        </a:rPr>
                        <a:t>Bagwan</a:t>
                      </a:r>
                      <a:r>
                        <a:rPr lang="en-IN" sz="1200" b="0" dirty="0">
                          <a:solidFill>
                            <a:srgbClr val="141413"/>
                          </a:solidFill>
                          <a:effectLst/>
                          <a:latin typeface="Times New Roman" panose="02020603050405020304" pitchFamily="18" charset="0"/>
                          <a:cs typeface="Times New Roman" panose="02020603050405020304" pitchFamily="18" charset="0"/>
                        </a:rPr>
                        <a:t> W.A.</a:t>
                      </a:r>
                    </a:p>
                    <a:p>
                      <a:pPr fontAlgn="t">
                        <a:buNone/>
                      </a:pPr>
                      <a:r>
                        <a:rPr lang="en-IN" sz="1200" b="0" dirty="0">
                          <a:solidFill>
                            <a:srgbClr val="3D3D3A"/>
                          </a:solidFill>
                          <a:effectLst/>
                          <a:latin typeface="Times New Roman" panose="02020603050405020304" pitchFamily="18" charset="0"/>
                          <a:cs typeface="Times New Roman" panose="02020603050405020304" pitchFamily="18" charset="0"/>
                        </a:rPr>
                        <a:t>2023 — Waste Management Bulletin, ScienceDirect</a:t>
                      </a: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E-waste generation &amp; ARIMA forecasting of processing capacity in Maharashtra till 2030</a:t>
                      </a:r>
                    </a:p>
                    <a:p>
                      <a:pPr fontAlgn="t">
                        <a:spcBef>
                          <a:spcPts val="75"/>
                        </a:spcBef>
                        <a:buNone/>
                      </a:pPr>
                      <a:r>
                        <a:rPr lang="en-US" sz="1200">
                          <a:solidFill>
                            <a:srgbClr val="3D3D3A"/>
                          </a:solidFill>
                          <a:effectLst/>
                          <a:latin typeface="Times New Roman" panose="02020603050405020304" pitchFamily="18" charset="0"/>
                          <a:cs typeface="Times New Roman" panose="02020603050405020304" pitchFamily="18" charset="0"/>
                        </a:rPr>
                        <a:t>Time-series ARIMA forecasting</a:t>
                      </a:r>
                      <a:endParaRPr lang="en-US" sz="1200" i="1">
                        <a:solidFill>
                          <a:srgbClr val="3D3D3A"/>
                        </a:solidFill>
                        <a:effectLst/>
                        <a:latin typeface="Times New Roman" panose="02020603050405020304" pitchFamily="18" charset="0"/>
                        <a:cs typeface="Times New Roman" panose="02020603050405020304" pitchFamily="18" charset="0"/>
                      </a:endParaRP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Maharashtra e-waste processing capacity growing at 6.86% annually; formal sector lags informal in collection</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State-level forecast only; no city-wise, ward-level or real-time collection tracking system</a:t>
                      </a:r>
                    </a:p>
                  </a:txBody>
                  <a:tcPr marL="76200" marR="76200" marT="53340" marB="53340"/>
                </a:tc>
                <a:extLst>
                  <a:ext uri="{0D108BD9-81ED-4DB2-BD59-A6C34878D82A}">
                    <a16:rowId xmlns:a16="http://schemas.microsoft.com/office/drawing/2014/main" val="3930047271"/>
                  </a:ext>
                </a:extLst>
              </a:tr>
              <a:tr h="913429">
                <a:tc>
                  <a:txBody>
                    <a:bodyPr/>
                    <a:lstStyle/>
                    <a:p>
                      <a:pPr fontAlgn="t">
                        <a:buNone/>
                      </a:pPr>
                      <a:r>
                        <a:rPr lang="en-IN" sz="1200" b="0" dirty="0">
                          <a:solidFill>
                            <a:srgbClr val="141413"/>
                          </a:solidFill>
                          <a:effectLst/>
                          <a:latin typeface="Times New Roman" panose="02020603050405020304" pitchFamily="18" charset="0"/>
                          <a:cs typeface="Times New Roman" panose="02020603050405020304" pitchFamily="18" charset="0"/>
                        </a:rPr>
                        <a:t>Singh S., Yadav V., Routroy S., Dasgupta M.S.</a:t>
                      </a:r>
                    </a:p>
                    <a:p>
                      <a:pPr fontAlgn="t">
                        <a:buNone/>
                      </a:pPr>
                      <a:r>
                        <a:rPr lang="en-IN" sz="1200" b="0" dirty="0">
                          <a:solidFill>
                            <a:srgbClr val="3D3D3A"/>
                          </a:solidFill>
                          <a:effectLst/>
                          <a:latin typeface="Times New Roman" panose="02020603050405020304" pitchFamily="18" charset="0"/>
                          <a:cs typeface="Times New Roman" panose="02020603050405020304" pitchFamily="18" charset="0"/>
                        </a:rPr>
                        <a:t>2025 — J. Material Cycles &amp; Waste </a:t>
                      </a:r>
                      <a:r>
                        <a:rPr lang="en-IN" sz="1200" b="0" dirty="0" err="1">
                          <a:solidFill>
                            <a:srgbClr val="3D3D3A"/>
                          </a:solidFill>
                          <a:effectLst/>
                          <a:latin typeface="Times New Roman" panose="02020603050405020304" pitchFamily="18" charset="0"/>
                          <a:cs typeface="Times New Roman" panose="02020603050405020304" pitchFamily="18" charset="0"/>
                        </a:rPr>
                        <a:t>Mgmt</a:t>
                      </a:r>
                      <a:r>
                        <a:rPr lang="en-IN" sz="1200" b="0" dirty="0">
                          <a:solidFill>
                            <a:srgbClr val="3D3D3A"/>
                          </a:solidFill>
                          <a:effectLst/>
                          <a:latin typeface="Times New Roman" panose="02020603050405020304" pitchFamily="18" charset="0"/>
                          <a:cs typeface="Times New Roman" panose="02020603050405020304" pitchFamily="18" charset="0"/>
                        </a:rPr>
                        <a:t>, Springer</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Risk propagation in e-waste collection system using Bayesian Networks</a:t>
                      </a:r>
                    </a:p>
                    <a:p>
                      <a:pPr fontAlgn="t">
                        <a:spcBef>
                          <a:spcPts val="75"/>
                        </a:spcBef>
                        <a:buNone/>
                      </a:pPr>
                      <a:r>
                        <a:rPr lang="en-US" sz="1200" dirty="0">
                          <a:solidFill>
                            <a:srgbClr val="3D3D3A"/>
                          </a:solidFill>
                          <a:effectLst/>
                          <a:latin typeface="Times New Roman" panose="02020603050405020304" pitchFamily="18" charset="0"/>
                          <a:cs typeface="Times New Roman" panose="02020603050405020304" pitchFamily="18" charset="0"/>
                        </a:rPr>
                        <a:t>Probabilistic risk modelling</a:t>
                      </a:r>
                      <a:endParaRPr lang="en-US" sz="1200" i="1" dirty="0">
                        <a:solidFill>
                          <a:srgbClr val="3D3D3A"/>
                        </a:solidFill>
                        <a:effectLst/>
                        <a:latin typeface="Times New Roman" panose="02020603050405020304" pitchFamily="18" charset="0"/>
                        <a:cs typeface="Times New Roman" panose="02020603050405020304" pitchFamily="18" charset="0"/>
                      </a:endParaRPr>
                    </a:p>
                  </a:txBody>
                  <a:tcPr marL="76200" marR="76200" marT="53340" marB="53340"/>
                </a:tc>
                <a:tc>
                  <a:txBody>
                    <a:bodyPr/>
                    <a:lstStyle/>
                    <a:p>
                      <a:pPr fontAlgn="t">
                        <a:buNone/>
                      </a:pPr>
                      <a:r>
                        <a:rPr lang="en-US" sz="1200">
                          <a:solidFill>
                            <a:srgbClr val="141413"/>
                          </a:solidFill>
                          <a:effectLst/>
                          <a:latin typeface="Times New Roman" panose="02020603050405020304" pitchFamily="18" charset="0"/>
                          <a:cs typeface="Times New Roman" panose="02020603050405020304" pitchFamily="18" charset="0"/>
                        </a:rPr>
                        <a:t>Data inconsistency in collection records (location, quantity, date) is the top propagating risk</a:t>
                      </a:r>
                    </a:p>
                  </a:txBody>
                  <a:tcPr marL="76200" marR="76200" marT="53340" marB="53340"/>
                </a:tc>
                <a:tc>
                  <a:txBody>
                    <a:bodyPr/>
                    <a:lstStyle/>
                    <a:p>
                      <a:pPr fontAlgn="t">
                        <a:buNone/>
                      </a:pPr>
                      <a:r>
                        <a:rPr lang="en-US" sz="1200" dirty="0">
                          <a:solidFill>
                            <a:srgbClr val="141413"/>
                          </a:solidFill>
                          <a:effectLst/>
                          <a:latin typeface="Times New Roman" panose="02020603050405020304" pitchFamily="18" charset="0"/>
                          <a:cs typeface="Times New Roman" panose="02020603050405020304" pitchFamily="18" charset="0"/>
                        </a:rPr>
                        <a:t>No real-time data capture system or citizen-facing collection platform proposed</a:t>
                      </a:r>
                    </a:p>
                  </a:txBody>
                  <a:tcPr marL="76200" marR="76200" marT="53340" marB="53340"/>
                </a:tc>
                <a:extLst>
                  <a:ext uri="{0D108BD9-81ED-4DB2-BD59-A6C34878D82A}">
                    <a16:rowId xmlns:a16="http://schemas.microsoft.com/office/drawing/2014/main" val="272413588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801B-7C8A-F16B-3770-97E255F39352}"/>
              </a:ext>
            </a:extLst>
          </p:cNvPr>
          <p:cNvSpPr>
            <a:spLocks noGrp="1"/>
          </p:cNvSpPr>
          <p:nvPr>
            <p:ph type="title"/>
          </p:nvPr>
        </p:nvSpPr>
        <p:spPr>
          <a:xfrm>
            <a:off x="309584" y="145779"/>
            <a:ext cx="7990184" cy="616221"/>
          </a:xfrm>
        </p:spPr>
        <p:txBody>
          <a:bodyPr>
            <a:normAutofit/>
          </a:bodyPr>
          <a:lstStyle/>
          <a:p>
            <a:pPr algn="l"/>
            <a:r>
              <a:rPr lang="en-US" b="1" dirty="0">
                <a:solidFill>
                  <a:srgbClr val="FF0000"/>
                </a:solidFill>
                <a:latin typeface="Times New Roman" panose="02020603050405020304" pitchFamily="18" charset="0"/>
                <a:ea typeface="Calibri"/>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332D3E91-590F-01DB-52C9-3D97FCA9B7A2}"/>
              </a:ext>
            </a:extLst>
          </p:cNvPr>
          <p:cNvSpPr>
            <a:spLocks noGrp="1"/>
          </p:cNvSpPr>
          <p:nvPr>
            <p:ph idx="1"/>
          </p:nvPr>
        </p:nvSpPr>
        <p:spPr>
          <a:xfrm>
            <a:off x="433778" y="762000"/>
            <a:ext cx="8276443" cy="5528431"/>
          </a:xfrm>
        </p:spPr>
        <p:txBody>
          <a:bodyPr vert="horz" lIns="91440" tIns="45720" rIns="91440" bIns="45720" rtlCol="0" anchor="t">
            <a:normAutofit/>
          </a:bodyPr>
          <a:lstStyle/>
          <a:p>
            <a:r>
              <a:rPr lang="en-US" dirty="0">
                <a:latin typeface="Times New Roman" panose="02020603050405020304" pitchFamily="18" charset="0"/>
                <a:cs typeface="Times New Roman" panose="02020603050405020304" pitchFamily="18" charset="0"/>
              </a:rPr>
              <a:t>The system relies on user-reported e-waste data, which may be inaccurate or incomplete.</a:t>
            </a:r>
          </a:p>
          <a:p>
            <a:r>
              <a:rPr lang="en-US" dirty="0">
                <a:latin typeface="Times New Roman" panose="02020603050405020304" pitchFamily="18" charset="0"/>
                <a:cs typeface="Times New Roman" panose="02020603050405020304" pitchFamily="18" charset="0"/>
              </a:rPr>
              <a:t> Informal collectors may not adopt the platform due to low digital literacy. </a:t>
            </a:r>
          </a:p>
          <a:p>
            <a:r>
              <a:rPr lang="en-US" dirty="0">
                <a:latin typeface="Times New Roman" panose="02020603050405020304" pitchFamily="18" charset="0"/>
                <a:cs typeface="Times New Roman" panose="02020603050405020304" pitchFamily="18" charset="0"/>
              </a:rPr>
              <a:t>Ward-level data from BBMP is inconsistent and not always publicly available. </a:t>
            </a:r>
          </a:p>
          <a:p>
            <a:r>
              <a:rPr lang="en-US" dirty="0">
                <a:latin typeface="Times New Roman" panose="02020603050405020304" pitchFamily="18" charset="0"/>
                <a:cs typeface="Times New Roman" panose="02020603050405020304" pitchFamily="18" charset="0"/>
              </a:rPr>
              <a:t>The model does not account for transboundary or illegally imported e-waste flows.</a:t>
            </a:r>
          </a:p>
          <a:p>
            <a:r>
              <a:rPr lang="en-US" dirty="0">
                <a:latin typeface="Times New Roman" panose="02020603050405020304" pitchFamily="18" charset="0"/>
                <a:cs typeface="Times New Roman" panose="02020603050405020304" pitchFamily="18" charset="0"/>
              </a:rPr>
              <a:t> Real-time collection tracking depends on continuous internet connectivity, which may be unreliable in certain urban pockets.</a:t>
            </a:r>
            <a:endParaRPr lang="en-US" dirty="0">
              <a:latin typeface="Times New Roman" panose="02020603050405020304" pitchFamily="18" charset="0"/>
              <a:ea typeface="Calibri"/>
              <a:cs typeface="Times New Roman" panose="02020603050405020304" pitchFamily="18" charset="0"/>
            </a:endParaRPr>
          </a:p>
          <a:p>
            <a:endParaRPr lang="en-US" dirty="0">
              <a:ea typeface="Calibri"/>
              <a:cs typeface="Calibri"/>
            </a:endParaRPr>
          </a:p>
        </p:txBody>
      </p:sp>
      <p:sp>
        <p:nvSpPr>
          <p:cNvPr id="4" name="Date Placeholder 3">
            <a:extLst>
              <a:ext uri="{FF2B5EF4-FFF2-40B4-BE49-F238E27FC236}">
                <a16:creationId xmlns:a16="http://schemas.microsoft.com/office/drawing/2014/main" id="{C3B9A312-7A4B-2012-8DB3-9A37850E5038}"/>
              </a:ext>
            </a:extLst>
          </p:cNvPr>
          <p:cNvSpPr>
            <a:spLocks noGrp="1"/>
          </p:cNvSpPr>
          <p:nvPr>
            <p:ph type="dt" sz="half" idx="10"/>
          </p:nvPr>
        </p:nvSpPr>
        <p:spPr/>
        <p:txBody>
          <a:bodyPr/>
          <a:lstStyle/>
          <a:p>
            <a:fld id="{644DFF53-C44F-492A-84D4-BF1605FFEEDD}" type="datetime1">
              <a:rPr lang="en-US" smtClean="0"/>
              <a:t>4/28/2026</a:t>
            </a:fld>
            <a:endParaRPr lang="en-US"/>
          </a:p>
        </p:txBody>
      </p:sp>
      <p:sp>
        <p:nvSpPr>
          <p:cNvPr id="5" name="Footer Placeholder 4">
            <a:extLst>
              <a:ext uri="{FF2B5EF4-FFF2-40B4-BE49-F238E27FC236}">
                <a16:creationId xmlns:a16="http://schemas.microsoft.com/office/drawing/2014/main" id="{9D024130-E7E7-47ED-D189-72E134C2A50C}"/>
              </a:ext>
            </a:extLst>
          </p:cNvPr>
          <p:cNvSpPr>
            <a:spLocks noGrp="1"/>
          </p:cNvSpPr>
          <p:nvPr>
            <p:ph type="ftr" sz="quarter" idx="11"/>
          </p:nvPr>
        </p:nvSpPr>
        <p:spPr/>
        <p:txBody>
          <a:bodyPr/>
          <a:lstStyle/>
          <a:p>
            <a:r>
              <a:rPr lang="en-US"/>
              <a:t>Mini Project -20ISE59</a:t>
            </a:r>
          </a:p>
        </p:txBody>
      </p:sp>
      <p:sp>
        <p:nvSpPr>
          <p:cNvPr id="6" name="Slide Number Placeholder 5">
            <a:extLst>
              <a:ext uri="{FF2B5EF4-FFF2-40B4-BE49-F238E27FC236}">
                <a16:creationId xmlns:a16="http://schemas.microsoft.com/office/drawing/2014/main" id="{8286E1DE-4BDB-587E-2E93-4053B789512B}"/>
              </a:ext>
            </a:extLst>
          </p:cNvPr>
          <p:cNvSpPr>
            <a:spLocks noGrp="1"/>
          </p:cNvSpPr>
          <p:nvPr>
            <p:ph type="sldNum" sz="quarter" idx="12"/>
          </p:nvPr>
        </p:nvSpPr>
        <p:spPr/>
        <p:txBody>
          <a:bodyPr/>
          <a:lstStyle/>
          <a:p>
            <a:fld id="{3C0F9C3E-79AB-4D1D-AF94-F9B1D785080B}" type="slidenum">
              <a:rPr lang="en-US" smtClean="0"/>
              <a:pPr/>
              <a:t>5</a:t>
            </a:fld>
            <a:endParaRPr lang="en-US"/>
          </a:p>
        </p:txBody>
      </p:sp>
    </p:spTree>
    <p:extLst>
      <p:ext uri="{BB962C8B-B14F-4D97-AF65-F5344CB8AC3E}">
        <p14:creationId xmlns:p14="http://schemas.microsoft.com/office/powerpoint/2010/main" val="2001666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4774" y="152843"/>
            <a:ext cx="8229600" cy="503237"/>
          </a:xfrm>
        </p:spPr>
        <p:txBody>
          <a:bodyPr>
            <a:normAutofit fontScale="90000"/>
          </a:bodyPr>
          <a:lstStyle/>
          <a:p>
            <a:r>
              <a:rPr lang="en-US" sz="4000" dirty="0">
                <a:solidFill>
                  <a:srgbClr val="FF0000"/>
                </a:solidFill>
                <a:latin typeface="Times New Roman" panose="02020603050405020304" pitchFamily="18" charset="0"/>
                <a:cs typeface="Times New Roman" panose="02020603050405020304" pitchFamily="18" charset="0"/>
              </a:rPr>
              <a:t>Problem Definition</a:t>
            </a:r>
          </a:p>
        </p:txBody>
      </p:sp>
      <p:sp>
        <p:nvSpPr>
          <p:cNvPr id="3" name="Content Placeholder 2"/>
          <p:cNvSpPr>
            <a:spLocks noGrp="1"/>
          </p:cNvSpPr>
          <p:nvPr>
            <p:ph idx="1"/>
          </p:nvPr>
        </p:nvSpPr>
        <p:spPr>
          <a:xfrm>
            <a:off x="438462" y="813244"/>
            <a:ext cx="8267074" cy="5232085"/>
          </a:xfrm>
        </p:spPr>
        <p:txBody>
          <a:bodyPr vert="horz" lIns="91440" tIns="45720" rIns="91440" bIns="45720" rtlCol="0" anchor="t">
            <a:noAutofit/>
          </a:bodyPr>
          <a:lstStyle/>
          <a:p>
            <a:pPr marL="0" indent="0">
              <a:buNone/>
            </a:pPr>
            <a:r>
              <a:rPr lang="en-US" dirty="0"/>
              <a:t>Bengaluru generates ~92,000 </a:t>
            </a:r>
            <a:r>
              <a:rPr lang="en-US" dirty="0" err="1"/>
              <a:t>tonnes</a:t>
            </a:r>
            <a:r>
              <a:rPr lang="en-US" dirty="0"/>
              <a:t> of e-waste annually (Karnataka State Pollution Control Board), with ~30% mismanaged and 20% handled informally, while recyclers are concentrated in industrial zones, leaving many residential wards underserved and without data-driven </a:t>
            </a:r>
            <a:r>
              <a:rPr lang="en-US" dirty="0" err="1"/>
              <a:t>prioritisation</a:t>
            </a:r>
            <a:r>
              <a:rPr lang="en-US" dirty="0"/>
              <a:t>. Under E-Waste Management Rules 2022, companies like Dell and Philips must meet 60–80% recycling targets, but lack of ward-level insights leads to inefficient collection, missed compliance, and avoidable fines.</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a:cs typeface="Times New Roman"/>
            </a:endParaRPr>
          </a:p>
          <a:p>
            <a:endParaRPr lang="en-US" dirty="0"/>
          </a:p>
        </p:txBody>
      </p:sp>
      <p:sp>
        <p:nvSpPr>
          <p:cNvPr id="4" name="Date Placeholder 3"/>
          <p:cNvSpPr>
            <a:spLocks noGrp="1"/>
          </p:cNvSpPr>
          <p:nvPr>
            <p:ph type="dt" sz="half" idx="10"/>
          </p:nvPr>
        </p:nvSpPr>
        <p:spPr/>
        <p:txBody>
          <a:bodyPr/>
          <a:lstStyle/>
          <a:p>
            <a:fld id="{5D503AA2-91A0-4F2E-8524-7BFF4AEE8FED}" type="datetime1">
              <a:rPr lang="en-US" smtClean="0"/>
              <a:t>4/28/2026</a:t>
            </a:fld>
            <a:endParaRPr lang="en-US"/>
          </a:p>
        </p:txBody>
      </p:sp>
      <p:sp>
        <p:nvSpPr>
          <p:cNvPr id="5" name="Footer Placeholder 4"/>
          <p:cNvSpPr>
            <a:spLocks noGrp="1"/>
          </p:cNvSpPr>
          <p:nvPr>
            <p:ph type="ftr" sz="quarter" idx="11"/>
          </p:nvPr>
        </p:nvSpPr>
        <p:spPr>
          <a:xfrm>
            <a:off x="6470014" y="6453003"/>
            <a:ext cx="2104054" cy="365125"/>
          </a:xfrm>
        </p:spPr>
        <p:txBody>
          <a:bodyPr/>
          <a:lstStyle/>
          <a:p>
            <a:r>
              <a:rPr lang="en-US" dirty="0"/>
              <a:t>Mini Project - 22CDS48</a:t>
            </a:r>
          </a:p>
        </p:txBody>
      </p:sp>
      <p:sp>
        <p:nvSpPr>
          <p:cNvPr id="6" name="Slide Number Placeholder 5"/>
          <p:cNvSpPr>
            <a:spLocks noGrp="1"/>
          </p:cNvSpPr>
          <p:nvPr>
            <p:ph type="sldNum" sz="quarter" idx="12"/>
          </p:nvPr>
        </p:nvSpPr>
        <p:spPr>
          <a:xfrm>
            <a:off x="8564852" y="6453003"/>
            <a:ext cx="481175" cy="374493"/>
          </a:xfrm>
        </p:spPr>
        <p:txBody>
          <a:bodyPr/>
          <a:lstStyle/>
          <a:p>
            <a:fld id="{3C0F9C3E-79AB-4D1D-AF94-F9B1D785080B}"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143" y="96630"/>
            <a:ext cx="8153400" cy="638175"/>
          </a:xfrm>
        </p:spPr>
        <p:txBody>
          <a:bodyPr>
            <a:normAutofit fontScale="90000"/>
          </a:bodyPr>
          <a:lstStyle/>
          <a:p>
            <a:r>
              <a:rPr lang="en-US" sz="4000" dirty="0">
                <a:solidFill>
                  <a:srgbClr val="FF0000"/>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325388" y="809209"/>
            <a:ext cx="8267074" cy="5439192"/>
          </a:xfrm>
        </p:spPr>
        <p:txBody>
          <a:bodyPr vert="horz" lIns="91440" tIns="45720" rIns="91440" bIns="45720" rtlCol="0" anchor="t">
            <a:normAutofit/>
          </a:bodyPr>
          <a:lstStyle/>
          <a:p>
            <a:r>
              <a:rPr lang="en-US" dirty="0"/>
              <a:t>Map and monitor ward-level e-waste generation hotspots across Bengaluru using spatial data to enable targeted collection planning.</a:t>
            </a:r>
          </a:p>
          <a:p>
            <a:pPr marL="0" indent="0">
              <a:buNone/>
            </a:pPr>
            <a:endParaRPr lang="en-US" dirty="0"/>
          </a:p>
          <a:p>
            <a:r>
              <a:rPr lang="en-US" dirty="0"/>
              <a:t>Bridge the gap between citizens, informal collectors, and formal recyclers through a digital platform that streamlines e-waste pickup and disposal.</a:t>
            </a:r>
          </a:p>
          <a:p>
            <a:pPr marL="0" indent="0">
              <a:buNone/>
            </a:pPr>
            <a:endParaRPr lang="en-US" dirty="0"/>
          </a:p>
          <a:p>
            <a:r>
              <a:rPr lang="en-US" dirty="0"/>
              <a:t>Forecast e-waste generation trends at the city and ward level to support data-driven policy decisions and recycling infrastructure planning.</a:t>
            </a:r>
          </a:p>
          <a:p>
            <a:pPr>
              <a:buNone/>
            </a:pPr>
            <a:endParaRPr lang="en-US" b="1" u="sng" dirty="0">
              <a:latin typeface="Times New Roman"/>
              <a:ea typeface="Calibri"/>
              <a:cs typeface="Times New Roman"/>
            </a:endParaRPr>
          </a:p>
        </p:txBody>
      </p:sp>
      <p:sp>
        <p:nvSpPr>
          <p:cNvPr id="4" name="Date Placeholder 3"/>
          <p:cNvSpPr>
            <a:spLocks noGrp="1"/>
          </p:cNvSpPr>
          <p:nvPr>
            <p:ph type="dt" sz="half" idx="10"/>
          </p:nvPr>
        </p:nvSpPr>
        <p:spPr/>
        <p:txBody>
          <a:bodyPr/>
          <a:lstStyle/>
          <a:p>
            <a:fld id="{98213994-D285-4F6E-A20B-7CD8752B78B2}" type="datetime1">
              <a:rPr lang="en-US" smtClean="0"/>
              <a:t>4/28/2026</a:t>
            </a:fld>
            <a:endParaRPr lang="en-US"/>
          </a:p>
        </p:txBody>
      </p:sp>
      <p:sp>
        <p:nvSpPr>
          <p:cNvPr id="5" name="Footer Placeholder 4"/>
          <p:cNvSpPr>
            <a:spLocks noGrp="1"/>
          </p:cNvSpPr>
          <p:nvPr>
            <p:ph type="ftr" sz="quarter" idx="11"/>
          </p:nvPr>
        </p:nvSpPr>
        <p:spPr/>
        <p:txBody>
          <a:bodyPr/>
          <a:lstStyle/>
          <a:p>
            <a:r>
              <a:rPr lang="en-US" dirty="0"/>
              <a:t>Mini Project – 22CSD48</a:t>
            </a:r>
          </a:p>
        </p:txBody>
      </p:sp>
      <p:sp>
        <p:nvSpPr>
          <p:cNvPr id="6" name="Slide Number Placeholder 5"/>
          <p:cNvSpPr>
            <a:spLocks noGrp="1"/>
          </p:cNvSpPr>
          <p:nvPr>
            <p:ph type="sldNum" sz="quarter" idx="12"/>
          </p:nvPr>
        </p:nvSpPr>
        <p:spPr/>
        <p:txBody>
          <a:bodyPr/>
          <a:lstStyle/>
          <a:p>
            <a:fld id="{3C0F9C3E-79AB-4D1D-AF94-F9B1D785080B}"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7990184" cy="1132258"/>
          </a:xfrm>
        </p:spPr>
        <p:txBody>
          <a:bodyPr>
            <a:normAutofit/>
          </a:bodyPr>
          <a:lstStyle/>
          <a:p>
            <a:r>
              <a:rPr lang="en-US" sz="4000" dirty="0">
                <a:solidFill>
                  <a:srgbClr val="FF0000"/>
                </a:solidFill>
                <a:latin typeface="Times New Roman" panose="02020603050405020304" pitchFamily="18" charset="0"/>
                <a:cs typeface="Times New Roman" panose="02020603050405020304" pitchFamily="18" charset="0"/>
              </a:rPr>
              <a:t>Design Modules</a:t>
            </a:r>
          </a:p>
        </p:txBody>
      </p:sp>
      <p:sp>
        <p:nvSpPr>
          <p:cNvPr id="4" name="Date Placeholder 3"/>
          <p:cNvSpPr>
            <a:spLocks noGrp="1"/>
          </p:cNvSpPr>
          <p:nvPr>
            <p:ph type="dt" sz="half" idx="10"/>
          </p:nvPr>
        </p:nvSpPr>
        <p:spPr/>
        <p:txBody>
          <a:bodyPr/>
          <a:lstStyle/>
          <a:p>
            <a:fld id="{51C73864-20F9-4AE1-934F-8040E512C41C}" type="datetime1">
              <a:rPr lang="en-US" smtClean="0"/>
              <a:t>4/28/2026</a:t>
            </a:fld>
            <a:endParaRPr lang="en-US"/>
          </a:p>
        </p:txBody>
      </p:sp>
      <p:sp>
        <p:nvSpPr>
          <p:cNvPr id="5" name="Footer Placeholder 4"/>
          <p:cNvSpPr>
            <a:spLocks noGrp="1"/>
          </p:cNvSpPr>
          <p:nvPr>
            <p:ph type="ftr" sz="quarter" idx="11"/>
          </p:nvPr>
        </p:nvSpPr>
        <p:spPr>
          <a:xfrm>
            <a:off x="6451276" y="6453003"/>
            <a:ext cx="2104054" cy="365125"/>
          </a:xfrm>
        </p:spPr>
        <p:txBody>
          <a:bodyPr/>
          <a:lstStyle/>
          <a:p>
            <a:r>
              <a:rPr lang="en-US" dirty="0"/>
              <a:t>Mini Project -22CDS48</a:t>
            </a:r>
          </a:p>
        </p:txBody>
      </p:sp>
      <p:sp>
        <p:nvSpPr>
          <p:cNvPr id="6" name="Slide Number Placeholder 5"/>
          <p:cNvSpPr>
            <a:spLocks noGrp="1"/>
          </p:cNvSpPr>
          <p:nvPr>
            <p:ph type="sldNum" sz="quarter" idx="12"/>
          </p:nvPr>
        </p:nvSpPr>
        <p:spPr>
          <a:xfrm>
            <a:off x="8658541" y="6453003"/>
            <a:ext cx="387486" cy="365125"/>
          </a:xfrm>
        </p:spPr>
        <p:txBody>
          <a:bodyPr/>
          <a:lstStyle/>
          <a:p>
            <a:fld id="{3C0F9C3E-79AB-4D1D-AF94-F9B1D785080B}" type="slidenum">
              <a:rPr lang="en-US" smtClean="0"/>
              <a:pPr/>
              <a:t>8</a:t>
            </a:fld>
            <a:endParaRPr lang="en-US"/>
          </a:p>
        </p:txBody>
      </p:sp>
      <p:pic>
        <p:nvPicPr>
          <p:cNvPr id="19" name="Content Placeholder 18">
            <a:extLst>
              <a:ext uri="{FF2B5EF4-FFF2-40B4-BE49-F238E27FC236}">
                <a16:creationId xmlns:a16="http://schemas.microsoft.com/office/drawing/2014/main" id="{2232DD21-68A2-6E33-E0E0-FA509CA8E944}"/>
              </a:ext>
            </a:extLst>
          </p:cNvPr>
          <p:cNvPicPr>
            <a:picLocks noGrp="1" noChangeAspect="1"/>
          </p:cNvPicPr>
          <p:nvPr>
            <p:ph idx="1"/>
          </p:nvPr>
        </p:nvPicPr>
        <p:blipFill>
          <a:blip r:embed="rId2"/>
          <a:stretch>
            <a:fillRect/>
          </a:stretch>
        </p:blipFill>
        <p:spPr>
          <a:xfrm>
            <a:off x="1066800" y="1066800"/>
            <a:ext cx="6778768" cy="518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24291" y="-1655"/>
            <a:ext cx="6770733" cy="928549"/>
          </a:xfrm>
        </p:spPr>
        <p:txBody>
          <a:bodyPr anchor="b">
            <a:noAutofit/>
          </a:bodyPr>
          <a:lstStyle/>
          <a:p>
            <a:r>
              <a:rPr lang="en-US" sz="4000" dirty="0">
                <a:solidFill>
                  <a:srgbClr val="FF0000"/>
                </a:solidFill>
                <a:latin typeface="Times New Roman"/>
                <a:cs typeface="Times New Roman"/>
              </a:rPr>
              <a:t>Algorithm / Flowchart</a:t>
            </a:r>
          </a:p>
        </p:txBody>
      </p:sp>
      <p:sp>
        <p:nvSpPr>
          <p:cNvPr id="4" name="Date Placeholder 3"/>
          <p:cNvSpPr>
            <a:spLocks noGrp="1"/>
          </p:cNvSpPr>
          <p:nvPr>
            <p:ph type="dt" sz="half" idx="10"/>
          </p:nvPr>
        </p:nvSpPr>
        <p:spPr>
          <a:xfrm>
            <a:off x="308609" y="6356350"/>
            <a:ext cx="1062991" cy="365125"/>
          </a:xfrm>
        </p:spPr>
        <p:txBody>
          <a:bodyPr>
            <a:normAutofit/>
          </a:bodyPr>
          <a:lstStyle/>
          <a:p>
            <a:pPr>
              <a:spcAft>
                <a:spcPts val="600"/>
              </a:spcAft>
            </a:pPr>
            <a:fld id="{1E84D06D-00B5-4D44-88FF-C67866A23189}" type="datetime1">
              <a:rPr lang="en-US">
                <a:solidFill>
                  <a:schemeClr val="tx1">
                    <a:lumMod val="50000"/>
                    <a:lumOff val="50000"/>
                  </a:schemeClr>
                </a:solidFill>
              </a:rPr>
              <a:pPr>
                <a:spcAft>
                  <a:spcPts val="600"/>
                </a:spcAft>
              </a:pPr>
              <a:t>4/28/2026</a:t>
            </a:fld>
            <a:endParaRPr lang="en-US">
              <a:solidFill>
                <a:schemeClr val="tx1">
                  <a:lumMod val="50000"/>
                  <a:lumOff val="50000"/>
                </a:schemeClr>
              </a:solidFill>
            </a:endParaRPr>
          </a:p>
        </p:txBody>
      </p:sp>
      <p:sp>
        <p:nvSpPr>
          <p:cNvPr id="5" name="Footer Placeholder 4"/>
          <p:cNvSpPr>
            <a:spLocks noGrp="1"/>
          </p:cNvSpPr>
          <p:nvPr>
            <p:ph type="ftr" sz="quarter" idx="11"/>
          </p:nvPr>
        </p:nvSpPr>
        <p:spPr>
          <a:xfrm>
            <a:off x="6096000" y="6356350"/>
            <a:ext cx="2269375" cy="365125"/>
          </a:xfrm>
        </p:spPr>
        <p:txBody>
          <a:bodyPr>
            <a:normAutofit/>
          </a:bodyPr>
          <a:lstStyle/>
          <a:p>
            <a:pPr algn="r">
              <a:spcAft>
                <a:spcPts val="600"/>
              </a:spcAft>
            </a:pPr>
            <a:r>
              <a:rPr lang="en-US" dirty="0">
                <a:solidFill>
                  <a:schemeClr val="tx1">
                    <a:lumMod val="50000"/>
                    <a:lumOff val="50000"/>
                  </a:schemeClr>
                </a:solidFill>
              </a:rPr>
              <a:t>Mini Project -22CDS48</a:t>
            </a:r>
          </a:p>
        </p:txBody>
      </p:sp>
      <p:sp>
        <p:nvSpPr>
          <p:cNvPr id="6" name="Slide Number Placeholder 5"/>
          <p:cNvSpPr>
            <a:spLocks noGrp="1"/>
          </p:cNvSpPr>
          <p:nvPr>
            <p:ph type="sldNum" sz="quarter" idx="12"/>
          </p:nvPr>
        </p:nvSpPr>
        <p:spPr>
          <a:xfrm>
            <a:off x="6777990" y="6356350"/>
            <a:ext cx="2057400" cy="365125"/>
          </a:xfrm>
        </p:spPr>
        <p:txBody>
          <a:bodyPr>
            <a:normAutofit/>
          </a:bodyPr>
          <a:lstStyle/>
          <a:p>
            <a:pPr>
              <a:spcAft>
                <a:spcPts val="600"/>
              </a:spcAft>
            </a:pPr>
            <a:fld id="{3C0F9C3E-79AB-4D1D-AF94-F9B1D785080B}" type="slidenum">
              <a:rPr lang="en-US">
                <a:solidFill>
                  <a:schemeClr val="tx1">
                    <a:lumMod val="50000"/>
                    <a:lumOff val="50000"/>
                  </a:schemeClr>
                </a:solidFill>
              </a:rPr>
              <a:pPr>
                <a:spcAft>
                  <a:spcPts val="600"/>
                </a:spcAft>
              </a:pPr>
              <a:t>9</a:t>
            </a:fld>
            <a:endParaRPr lang="en-US">
              <a:solidFill>
                <a:schemeClr val="tx1">
                  <a:lumMod val="50000"/>
                  <a:lumOff val="50000"/>
                </a:schemeClr>
              </a:solidFill>
            </a:endParaRPr>
          </a:p>
        </p:txBody>
      </p:sp>
      <p:pic>
        <p:nvPicPr>
          <p:cNvPr id="11" name="Picture 10">
            <a:extLst>
              <a:ext uri="{FF2B5EF4-FFF2-40B4-BE49-F238E27FC236}">
                <a16:creationId xmlns:a16="http://schemas.microsoft.com/office/drawing/2014/main" id="{CDDBDC4D-9E86-07B6-FDAE-1838B32DC579}"/>
              </a:ext>
            </a:extLst>
          </p:cNvPr>
          <p:cNvPicPr>
            <a:picLocks noChangeAspect="1"/>
          </p:cNvPicPr>
          <p:nvPr/>
        </p:nvPicPr>
        <p:blipFill>
          <a:blip r:embed="rId2"/>
          <a:stretch>
            <a:fillRect/>
          </a:stretch>
        </p:blipFill>
        <p:spPr>
          <a:xfrm>
            <a:off x="1553345" y="990600"/>
            <a:ext cx="6037309" cy="50310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A2CB-C975-3EE4-DD5C-E0CECCD045B8}"/>
              </a:ext>
            </a:extLst>
          </p:cNvPr>
          <p:cNvSpPr>
            <a:spLocks noGrp="1"/>
          </p:cNvSpPr>
          <p:nvPr>
            <p:ph type="title"/>
          </p:nvPr>
        </p:nvSpPr>
        <p:spPr>
          <a:xfrm>
            <a:off x="458788" y="304800"/>
            <a:ext cx="7389114" cy="822960"/>
          </a:xfrm>
        </p:spPr>
        <p:txBody>
          <a:bodyPr/>
          <a:lstStyle/>
          <a:p>
            <a:r>
              <a:rPr lang="en-US" dirty="0">
                <a:solidFill>
                  <a:srgbClr val="FF0000"/>
                </a:solidFill>
                <a:latin typeface="Times New Roman"/>
                <a:cs typeface="Times New Roman"/>
              </a:rPr>
              <a:t>Algorithm / Flowchart</a:t>
            </a:r>
            <a:endParaRPr lang="en-IN" dirty="0"/>
          </a:p>
        </p:txBody>
      </p:sp>
      <p:sp>
        <p:nvSpPr>
          <p:cNvPr id="4" name="Date Placeholder 3">
            <a:extLst>
              <a:ext uri="{FF2B5EF4-FFF2-40B4-BE49-F238E27FC236}">
                <a16:creationId xmlns:a16="http://schemas.microsoft.com/office/drawing/2014/main" id="{5F924A0B-7936-99C5-5D8A-D642D0C9C597}"/>
              </a:ext>
            </a:extLst>
          </p:cNvPr>
          <p:cNvSpPr>
            <a:spLocks noGrp="1"/>
          </p:cNvSpPr>
          <p:nvPr>
            <p:ph type="dt" sz="half" idx="10"/>
          </p:nvPr>
        </p:nvSpPr>
        <p:spPr/>
        <p:txBody>
          <a:bodyPr/>
          <a:lstStyle/>
          <a:p>
            <a:fld id="{F9DADB01-746D-420C-B257-91AC6C0CB183}" type="datetime1">
              <a:rPr lang="en-US" smtClean="0"/>
              <a:t>4/28/2026</a:t>
            </a:fld>
            <a:endParaRPr lang="en-US" dirty="0"/>
          </a:p>
        </p:txBody>
      </p:sp>
      <p:sp>
        <p:nvSpPr>
          <p:cNvPr id="5" name="Footer Placeholder 4">
            <a:extLst>
              <a:ext uri="{FF2B5EF4-FFF2-40B4-BE49-F238E27FC236}">
                <a16:creationId xmlns:a16="http://schemas.microsoft.com/office/drawing/2014/main" id="{10E89536-29BC-9494-70ED-1C47AC3746C7}"/>
              </a:ext>
            </a:extLst>
          </p:cNvPr>
          <p:cNvSpPr>
            <a:spLocks noGrp="1"/>
          </p:cNvSpPr>
          <p:nvPr>
            <p:ph type="ftr" sz="quarter" idx="11"/>
          </p:nvPr>
        </p:nvSpPr>
        <p:spPr>
          <a:xfrm>
            <a:off x="6477000" y="6453002"/>
            <a:ext cx="2104054" cy="365125"/>
          </a:xfrm>
        </p:spPr>
        <p:txBody>
          <a:bodyPr/>
          <a:lstStyle/>
          <a:p>
            <a:pPr>
              <a:spcAft>
                <a:spcPts val="600"/>
              </a:spcAft>
            </a:pPr>
            <a:r>
              <a:rPr lang="en-US">
                <a:solidFill>
                  <a:schemeClr val="tx1">
                    <a:lumMod val="50000"/>
                    <a:lumOff val="50000"/>
                  </a:schemeClr>
                </a:solidFill>
              </a:rPr>
              <a:t>Mini Project -22CDS48</a:t>
            </a:r>
            <a:endParaRPr lang="en-US" dirty="0">
              <a:solidFill>
                <a:schemeClr val="tx1">
                  <a:lumMod val="50000"/>
                  <a:lumOff val="50000"/>
                </a:schemeClr>
              </a:solidFill>
            </a:endParaRPr>
          </a:p>
        </p:txBody>
      </p:sp>
      <p:sp>
        <p:nvSpPr>
          <p:cNvPr id="6" name="Slide Number Placeholder 5">
            <a:extLst>
              <a:ext uri="{FF2B5EF4-FFF2-40B4-BE49-F238E27FC236}">
                <a16:creationId xmlns:a16="http://schemas.microsoft.com/office/drawing/2014/main" id="{50258D81-1BCB-8485-9EFA-E96B9AA8EA33}"/>
              </a:ext>
            </a:extLst>
          </p:cNvPr>
          <p:cNvSpPr>
            <a:spLocks noGrp="1"/>
          </p:cNvSpPr>
          <p:nvPr>
            <p:ph type="sldNum" sz="quarter" idx="12"/>
          </p:nvPr>
        </p:nvSpPr>
        <p:spPr>
          <a:xfrm>
            <a:off x="8422044" y="6400801"/>
            <a:ext cx="623984" cy="417328"/>
          </a:xfrm>
        </p:spPr>
        <p:txBody>
          <a:bodyPr/>
          <a:lstStyle/>
          <a:p>
            <a:fld id="{CC057153-B650-4DEB-B370-79DDCFDCE934}" type="slidenum">
              <a:rPr lang="en-US" smtClean="0"/>
              <a:t>10</a:t>
            </a:fld>
            <a:endParaRPr lang="en-US" dirty="0"/>
          </a:p>
        </p:txBody>
      </p:sp>
      <p:sp>
        <p:nvSpPr>
          <p:cNvPr id="7" name="Content Placeholder 2">
            <a:extLst>
              <a:ext uri="{FF2B5EF4-FFF2-40B4-BE49-F238E27FC236}">
                <a16:creationId xmlns:a16="http://schemas.microsoft.com/office/drawing/2014/main" id="{45A57298-1DA8-87F8-C458-C6C12D9A3BE5}"/>
              </a:ext>
            </a:extLst>
          </p:cNvPr>
          <p:cNvSpPr>
            <a:spLocks noGrp="1"/>
          </p:cNvSpPr>
          <p:nvPr>
            <p:ph idx="1"/>
          </p:nvPr>
        </p:nvSpPr>
        <p:spPr>
          <a:xfrm>
            <a:off x="430568" y="1146451"/>
            <a:ext cx="7991475" cy="4592637"/>
          </a:xfrm>
        </p:spPr>
        <p:txBody>
          <a:bodyPr vert="horz" lIns="91440" tIns="45720" rIns="91440" bIns="45720" rtlCol="0" anchor="t">
            <a:noAutofit/>
          </a:bodyPr>
          <a:lstStyle/>
          <a:p>
            <a:pPr>
              <a:lnSpc>
                <a:spcPct val="90000"/>
              </a:lnSpc>
            </a:pPr>
            <a:r>
              <a:rPr lang="en-US" sz="2000" b="1" dirty="0">
                <a:latin typeface="Times New Roman"/>
                <a:ea typeface="+mn-lt"/>
                <a:cs typeface="Times New Roman"/>
              </a:rPr>
              <a:t>Initialize:</a:t>
            </a:r>
            <a:r>
              <a:rPr lang="en-US" sz="2000" dirty="0">
                <a:latin typeface="Times New Roman"/>
                <a:ea typeface="+mn-lt"/>
                <a:cs typeface="Times New Roman"/>
              </a:rPr>
              <a:t> Define environment seeds and global e-waste anchors.</a:t>
            </a:r>
          </a:p>
          <a:p>
            <a:pPr marL="0" indent="0">
              <a:lnSpc>
                <a:spcPct val="90000"/>
              </a:lnSpc>
              <a:buNone/>
            </a:pPr>
            <a:endParaRPr lang="en-US" sz="2000" dirty="0">
              <a:latin typeface="Times New Roman"/>
              <a:cs typeface="Times New Roman"/>
            </a:endParaRPr>
          </a:p>
          <a:p>
            <a:pPr>
              <a:lnSpc>
                <a:spcPct val="90000"/>
              </a:lnSpc>
            </a:pPr>
            <a:r>
              <a:rPr lang="en-US" sz="2000" b="1" dirty="0">
                <a:latin typeface="Times New Roman"/>
                <a:ea typeface="+mn-lt"/>
                <a:cs typeface="Times New Roman"/>
              </a:rPr>
              <a:t>Iterate:</a:t>
            </a:r>
            <a:r>
              <a:rPr lang="en-US" sz="2000" dirty="0">
                <a:latin typeface="Times New Roman"/>
                <a:ea typeface="+mn-lt"/>
                <a:cs typeface="Times New Roman"/>
              </a:rPr>
              <a:t> For every ward and year, simulate e-waste metrics.</a:t>
            </a:r>
          </a:p>
          <a:p>
            <a:pPr marL="0" indent="0">
              <a:lnSpc>
                <a:spcPct val="90000"/>
              </a:lnSpc>
              <a:buNone/>
            </a:pPr>
            <a:endParaRPr lang="en-US" sz="2000" dirty="0">
              <a:latin typeface="Times New Roman"/>
              <a:cs typeface="Times New Roman"/>
            </a:endParaRPr>
          </a:p>
          <a:p>
            <a:pPr>
              <a:lnSpc>
                <a:spcPct val="90000"/>
              </a:lnSpc>
            </a:pPr>
            <a:r>
              <a:rPr lang="en-US" sz="2000" b="1" dirty="0">
                <a:latin typeface="Times New Roman"/>
                <a:ea typeface="+mn-lt"/>
                <a:cs typeface="Times New Roman"/>
              </a:rPr>
              <a:t>Evaluate:</a:t>
            </a:r>
            <a:r>
              <a:rPr lang="en-US" sz="2000" dirty="0">
                <a:latin typeface="Times New Roman"/>
                <a:ea typeface="+mn-lt"/>
                <a:cs typeface="Times New Roman"/>
              </a:rPr>
              <a:t> Calculate the "Gap Score" to determine infrastructure stress.</a:t>
            </a:r>
          </a:p>
          <a:p>
            <a:pPr marL="0" indent="0">
              <a:lnSpc>
                <a:spcPct val="90000"/>
              </a:lnSpc>
              <a:buNone/>
            </a:pPr>
            <a:endParaRPr lang="en-US" sz="2000" dirty="0">
              <a:latin typeface="Times New Roman"/>
              <a:cs typeface="Times New Roman"/>
            </a:endParaRPr>
          </a:p>
          <a:p>
            <a:pPr>
              <a:lnSpc>
                <a:spcPct val="90000"/>
              </a:lnSpc>
            </a:pPr>
            <a:r>
              <a:rPr lang="en-US" sz="2000" b="1" dirty="0">
                <a:latin typeface="Times New Roman"/>
                <a:ea typeface="+mn-lt"/>
                <a:cs typeface="Times New Roman"/>
              </a:rPr>
              <a:t>Export:</a:t>
            </a:r>
            <a:r>
              <a:rPr lang="en-US" sz="2000" dirty="0">
                <a:latin typeface="Times New Roman"/>
                <a:ea typeface="+mn-lt"/>
                <a:cs typeface="Times New Roman"/>
              </a:rPr>
              <a:t> Produce structured datasets (CSV/XLSX) and visual diagnostics (Power BI).</a:t>
            </a:r>
          </a:p>
          <a:p>
            <a:pPr marL="0" indent="0">
              <a:lnSpc>
                <a:spcPct val="90000"/>
              </a:lnSpc>
              <a:buNone/>
            </a:pPr>
            <a:endParaRPr lang="en-US" sz="2000" dirty="0">
              <a:latin typeface="Times New Roman"/>
              <a:cs typeface="Times New Roman"/>
            </a:endParaRPr>
          </a:p>
          <a:p>
            <a:pPr>
              <a:lnSpc>
                <a:spcPct val="90000"/>
              </a:lnSpc>
            </a:pPr>
            <a:r>
              <a:rPr lang="en-US" sz="2000" b="1" dirty="0">
                <a:latin typeface="Times New Roman"/>
                <a:ea typeface="+mn-lt"/>
                <a:cs typeface="Times New Roman"/>
              </a:rPr>
              <a:t>Secure:</a:t>
            </a:r>
            <a:r>
              <a:rPr lang="en-US" sz="2000" dirty="0">
                <a:latin typeface="Times New Roman"/>
                <a:ea typeface="+mn-lt"/>
                <a:cs typeface="Times New Roman"/>
              </a:rPr>
              <a:t> Generate metadata and a SHA256 provenance hash for data integrity.</a:t>
            </a:r>
            <a:endParaRPr lang="en-US" sz="2000" dirty="0">
              <a:latin typeface="Times New Roman"/>
              <a:cs typeface="Times New Roman"/>
            </a:endParaRPr>
          </a:p>
          <a:p>
            <a:pPr>
              <a:lnSpc>
                <a:spcPct val="90000"/>
              </a:lnSpc>
            </a:pPr>
            <a:endParaRPr lang="en-US" sz="1600" dirty="0">
              <a:latin typeface="Times New Roman"/>
              <a:ea typeface="Calibri"/>
              <a:cs typeface="Times New Roman"/>
            </a:endParaRPr>
          </a:p>
        </p:txBody>
      </p:sp>
    </p:spTree>
    <p:extLst>
      <p:ext uri="{BB962C8B-B14F-4D97-AF65-F5344CB8AC3E}">
        <p14:creationId xmlns:p14="http://schemas.microsoft.com/office/powerpoint/2010/main" val="3679691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9486" y="57125"/>
            <a:ext cx="7990184" cy="682554"/>
          </a:xfrm>
        </p:spPr>
        <p:txBody>
          <a:bodyPr>
            <a:normAutofit/>
          </a:bodyPr>
          <a:lstStyle/>
          <a:p>
            <a:r>
              <a:rPr lang="en-US" sz="4000" dirty="0">
                <a:solidFill>
                  <a:srgbClr val="FF000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459486" y="838200"/>
            <a:ext cx="7990184" cy="5181600"/>
          </a:xfrm>
        </p:spPr>
        <p:txBody>
          <a:bodyPr vert="horz" lIns="91440" tIns="45720" rIns="91440" bIns="45720" rtlCol="0" anchor="t">
            <a:normAutofit/>
          </a:bodyPr>
          <a:lstStyle/>
          <a:p>
            <a:r>
              <a:rPr lang="en-US" dirty="0">
                <a:latin typeface="Times New Roman" panose="02020603050405020304" pitchFamily="18" charset="0"/>
                <a:cs typeface="Times New Roman" panose="02020603050405020304" pitchFamily="18" charset="0"/>
              </a:rPr>
              <a:t>This project builds a scalable ward-level e-waste analytics system for 20 wards in Bengaluru (2024–2026), using a </a:t>
            </a:r>
            <a:r>
              <a:rPr lang="en-US" i="1" dirty="0">
                <a:latin typeface="Times New Roman" panose="02020603050405020304" pitchFamily="18" charset="0"/>
                <a:cs typeface="Times New Roman" panose="02020603050405020304" pitchFamily="18" charset="0"/>
              </a:rPr>
              <a:t>Recycle Gap Score</a:t>
            </a:r>
            <a:r>
              <a:rPr lang="en-US" dirty="0">
                <a:latin typeface="Times New Roman" panose="02020603050405020304" pitchFamily="18" charset="0"/>
                <a:cs typeface="Times New Roman" panose="02020603050405020304" pitchFamily="18" charset="0"/>
              </a:rPr>
              <a:t> to identify under-served areas based on discard rate, capacity overload, and recycler scarcity. </a:t>
            </a:r>
          </a:p>
          <a:p>
            <a:r>
              <a:rPr lang="en-US" dirty="0">
                <a:latin typeface="Times New Roman" panose="02020603050405020304" pitchFamily="18" charset="0"/>
                <a:cs typeface="Times New Roman" panose="02020603050405020304" pitchFamily="18" charset="0"/>
              </a:rPr>
              <a:t>The system is production-ready, allowing real data from Karnataka State Pollution Control Board or </a:t>
            </a:r>
            <a:r>
              <a:rPr lang="en-US" dirty="0" err="1">
                <a:latin typeface="Times New Roman" panose="02020603050405020304" pitchFamily="18" charset="0"/>
                <a:cs typeface="Times New Roman" panose="02020603050405020304" pitchFamily="18" charset="0"/>
              </a:rPr>
              <a:t>Bruhat</a:t>
            </a:r>
            <a:r>
              <a:rPr lang="en-US" dirty="0">
                <a:latin typeface="Times New Roman" panose="02020603050405020304" pitchFamily="18" charset="0"/>
                <a:cs typeface="Times New Roman" panose="02020603050405020304" pitchFamily="18" charset="0"/>
              </a:rPr>
              <a:t> Bengaluru Mahanagara Palike to be integrated easily. </a:t>
            </a:r>
          </a:p>
          <a:p>
            <a:r>
              <a:rPr lang="en-US" dirty="0">
                <a:latin typeface="Times New Roman" panose="02020603050405020304" pitchFamily="18" charset="0"/>
                <a:cs typeface="Times New Roman" panose="02020603050405020304" pitchFamily="18" charset="0"/>
              </a:rPr>
              <a:t>It supports companies like Dell and Philips in optimizing EPR compliance and helps regulators plan recycler expansion, with future scope for expansion to other cities, integration with Central Pollution Control Board data, and a citizen-facing app.</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3549177F-2424-43C0-8FD5-8D8159C0DCBB}" type="datetime1">
              <a:rPr lang="en-US" smtClean="0"/>
              <a:t>4/28/2026</a:t>
            </a:fld>
            <a:endParaRPr lang="en-US"/>
          </a:p>
        </p:txBody>
      </p:sp>
      <p:sp>
        <p:nvSpPr>
          <p:cNvPr id="5" name="Footer Placeholder 4"/>
          <p:cNvSpPr>
            <a:spLocks noGrp="1"/>
          </p:cNvSpPr>
          <p:nvPr>
            <p:ph type="ftr" sz="quarter" idx="11"/>
          </p:nvPr>
        </p:nvSpPr>
        <p:spPr>
          <a:xfrm>
            <a:off x="6470014" y="6453003"/>
            <a:ext cx="2104054" cy="365125"/>
          </a:xfrm>
        </p:spPr>
        <p:txBody>
          <a:bodyPr/>
          <a:lstStyle/>
          <a:p>
            <a:r>
              <a:rPr lang="en-US" dirty="0"/>
              <a:t>Mini Project -22CDS48</a:t>
            </a:r>
          </a:p>
        </p:txBody>
      </p:sp>
      <p:sp>
        <p:nvSpPr>
          <p:cNvPr id="6" name="Slide Number Placeholder 5"/>
          <p:cNvSpPr>
            <a:spLocks noGrp="1"/>
          </p:cNvSpPr>
          <p:nvPr>
            <p:ph type="sldNum" sz="quarter" idx="12"/>
          </p:nvPr>
        </p:nvSpPr>
        <p:spPr>
          <a:xfrm>
            <a:off x="8583590" y="6453003"/>
            <a:ext cx="462437" cy="365125"/>
          </a:xfrm>
        </p:spPr>
        <p:txBody>
          <a:bodyPr/>
          <a:lstStyle/>
          <a:p>
            <a:fld id="{3C0F9C3E-79AB-4D1D-AF94-F9B1D785080B}"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584" y="108304"/>
            <a:ext cx="7990184" cy="626340"/>
          </a:xfrm>
        </p:spPr>
        <p:txBody>
          <a:bodyPr>
            <a:normAutofit fontScale="90000"/>
          </a:bodyPr>
          <a:lstStyle/>
          <a:p>
            <a:r>
              <a:rPr lang="en-US" sz="4000" dirty="0">
                <a:solidFill>
                  <a:srgbClr val="FF0000"/>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309584" y="846336"/>
            <a:ext cx="8140085" cy="5606667"/>
          </a:xfrm>
        </p:spPr>
        <p:txBody>
          <a:bodyPr vert="horz" lIns="91440" tIns="45720" rIns="91440" bIns="45720" rtlCol="0" anchor="t">
            <a:normAutofit fontScale="25000" lnSpcReduction="20000"/>
          </a:bodyPr>
          <a:lstStyle/>
          <a:p>
            <a:pPr>
              <a:buNone/>
            </a:pPr>
            <a:r>
              <a:rPr lang="en-US" sz="6400" dirty="0">
                <a:latin typeface="Times New Roman" panose="02020603050405020304" pitchFamily="18" charset="0"/>
                <a:cs typeface="Times New Roman" panose="02020603050405020304" pitchFamily="18" charset="0"/>
              </a:rPr>
              <a:t>[1] Joseph N., Philip L., Bhattacharyya T. (2021). "Understanding the Gap Between Formal and Informal E-Waste Recycling Facilities in India." Waste Management, Elsevier. </a:t>
            </a:r>
            <a:r>
              <a:rPr lang="en-IN" sz="6400" dirty="0">
                <a:latin typeface="Times New Roman" panose="02020603050405020304" pitchFamily="18" charset="0"/>
                <a:cs typeface="Times New Roman" panose="02020603050405020304" pitchFamily="18" charset="0"/>
                <a:hlinkClick r:id="rId3"/>
              </a:rPr>
              <a:t>https://doi.org/10.1016/j.wasman.2021.02.045</a:t>
            </a:r>
            <a:r>
              <a:rPr lang="en-IN"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a:buNone/>
            </a:pPr>
            <a:r>
              <a:rPr lang="en-US" sz="6400" dirty="0">
                <a:latin typeface="Times New Roman" panose="02020603050405020304" pitchFamily="18" charset="0"/>
                <a:cs typeface="Times New Roman" panose="02020603050405020304" pitchFamily="18" charset="0"/>
              </a:rPr>
              <a:t>[2] </a:t>
            </a:r>
            <a:r>
              <a:rPr lang="en-US" sz="6400" dirty="0" err="1">
                <a:latin typeface="Times New Roman" panose="02020603050405020304" pitchFamily="18" charset="0"/>
                <a:cs typeface="Times New Roman" panose="02020603050405020304" pitchFamily="18" charset="0"/>
              </a:rPr>
              <a:t>Bagwan</a:t>
            </a:r>
            <a:r>
              <a:rPr lang="en-US" sz="6400" dirty="0">
                <a:latin typeface="Times New Roman" panose="02020603050405020304" pitchFamily="18" charset="0"/>
                <a:cs typeface="Times New Roman" panose="02020603050405020304" pitchFamily="18" charset="0"/>
              </a:rPr>
              <a:t> W.A. (2023). "Electronic Waste Generation and Management Scenario of India, and ARIMA Forecasting of E-Waste Processing Capacity of Maharashtra State till 2030." Waste Management </a:t>
            </a:r>
            <a:r>
              <a:rPr lang="en-US" sz="6400" dirty="0" err="1">
                <a:latin typeface="Times New Roman" panose="02020603050405020304" pitchFamily="18" charset="0"/>
                <a:cs typeface="Times New Roman" panose="02020603050405020304" pitchFamily="18" charset="0"/>
              </a:rPr>
              <a:t>Bulletin,ScienceDirect</a:t>
            </a:r>
            <a:r>
              <a:rPr lang="en-US" sz="6400" dirty="0">
                <a:latin typeface="Times New Roman" panose="02020603050405020304" pitchFamily="18" charset="0"/>
                <a:cs typeface="Times New Roman" panose="02020603050405020304" pitchFamily="18" charset="0"/>
              </a:rPr>
              <a:t>.</a:t>
            </a:r>
          </a:p>
          <a:p>
            <a:pPr>
              <a:buNone/>
            </a:pPr>
            <a:r>
              <a:rPr lang="en-IN" sz="6400" dirty="0">
                <a:latin typeface="Times New Roman" panose="02020603050405020304" pitchFamily="18" charset="0"/>
                <a:cs typeface="Times New Roman" panose="02020603050405020304" pitchFamily="18" charset="0"/>
                <a:hlinkClick r:id="rId4"/>
              </a:rPr>
              <a:t>https://www.sciencedirect.com/science/article/pii/S0892687522002710</a:t>
            </a:r>
            <a:r>
              <a:rPr lang="en-IN"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a:buNone/>
            </a:pPr>
            <a:r>
              <a:rPr lang="en-US" sz="6400" dirty="0">
                <a:latin typeface="Times New Roman" panose="02020603050405020304" pitchFamily="18" charset="0"/>
                <a:cs typeface="Times New Roman" panose="02020603050405020304" pitchFamily="18" charset="0"/>
              </a:rPr>
              <a:t>[3] Arya U., Goel S., Chaturvedi A. (2023). "Design, Adoption and Implementation of Electronic Waste Policies in India." Environmental Science &amp; Pollution Research, Springer / PMC. </a:t>
            </a:r>
          </a:p>
          <a:p>
            <a:pPr>
              <a:buNone/>
            </a:pPr>
            <a:r>
              <a:rPr lang="en-IN" sz="6400" dirty="0">
                <a:latin typeface="Times New Roman" panose="02020603050405020304" pitchFamily="18" charset="0"/>
                <a:cs typeface="Times New Roman" panose="02020603050405020304" pitchFamily="18" charset="0"/>
                <a:hlinkClick r:id="rId5"/>
              </a:rPr>
              <a:t>https://doi.org/10.1007/s11356-023-26774-0</a:t>
            </a:r>
            <a:r>
              <a:rPr lang="en-IN"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a:buNone/>
            </a:pPr>
            <a:r>
              <a:rPr lang="en-US" sz="6400" dirty="0">
                <a:latin typeface="Times New Roman" panose="02020603050405020304" pitchFamily="18" charset="0"/>
                <a:cs typeface="Times New Roman" panose="02020603050405020304" pitchFamily="18" charset="0"/>
              </a:rPr>
              <a:t>[4] </a:t>
            </a:r>
            <a:r>
              <a:rPr lang="en-US" sz="6400" dirty="0" err="1">
                <a:latin typeface="Times New Roman" panose="02020603050405020304" pitchFamily="18" charset="0"/>
                <a:cs typeface="Times New Roman" panose="02020603050405020304" pitchFamily="18" charset="0"/>
              </a:rPr>
              <a:t>Schloms</a:t>
            </a:r>
            <a:r>
              <a:rPr lang="en-US" sz="6400" dirty="0">
                <a:latin typeface="Times New Roman" panose="02020603050405020304" pitchFamily="18" charset="0"/>
                <a:cs typeface="Times New Roman" panose="02020603050405020304" pitchFamily="18" charset="0"/>
              </a:rPr>
              <a:t> L., </a:t>
            </a:r>
            <a:r>
              <a:rPr lang="en-US" sz="6400" dirty="0" err="1">
                <a:latin typeface="Times New Roman" panose="02020603050405020304" pitchFamily="18" charset="0"/>
                <a:cs typeface="Times New Roman" panose="02020603050405020304" pitchFamily="18" charset="0"/>
              </a:rPr>
              <a:t>Lübben</a:t>
            </a:r>
            <a:r>
              <a:rPr lang="en-US" sz="6400" dirty="0">
                <a:latin typeface="Times New Roman" panose="02020603050405020304" pitchFamily="18" charset="0"/>
                <a:cs typeface="Times New Roman" panose="02020603050405020304" pitchFamily="18" charset="0"/>
              </a:rPr>
              <a:t> V., Finger V. (2025). "Electronic Waste Management in Northern India: A Regional Case Study of Chandigarh." Journal of Material Cycles and Waste Management, Springer Nature.</a:t>
            </a:r>
          </a:p>
          <a:p>
            <a:pPr>
              <a:buNone/>
            </a:pPr>
            <a:r>
              <a:rPr lang="en-IN" sz="6400" dirty="0">
                <a:latin typeface="Times New Roman" panose="02020603050405020304" pitchFamily="18" charset="0"/>
                <a:cs typeface="Times New Roman" panose="02020603050405020304" pitchFamily="18" charset="0"/>
                <a:hlinkClick r:id="rId6"/>
              </a:rPr>
              <a:t>https://link.springer.com/article/10.1007/s10163-025-02194-8</a:t>
            </a:r>
            <a:r>
              <a:rPr lang="en-IN" sz="6400" dirty="0">
                <a:latin typeface="Times New Roman" panose="02020603050405020304" pitchFamily="18" charset="0"/>
                <a:cs typeface="Times New Roman" panose="02020603050405020304" pitchFamily="18" charset="0"/>
              </a:rPr>
              <a:t> </a:t>
            </a:r>
            <a:endParaRPr lang="en-US" sz="6400" dirty="0">
              <a:latin typeface="Times New Roman" panose="02020603050405020304" pitchFamily="18" charset="0"/>
              <a:cs typeface="Times New Roman" panose="02020603050405020304" pitchFamily="18" charset="0"/>
            </a:endParaRPr>
          </a:p>
          <a:p>
            <a:pPr>
              <a:buNone/>
            </a:pPr>
            <a:r>
              <a:rPr lang="en-US" sz="6400" dirty="0">
                <a:latin typeface="Times New Roman" panose="02020603050405020304" pitchFamily="18" charset="0"/>
                <a:cs typeface="Times New Roman" panose="02020603050405020304" pitchFamily="18" charset="0"/>
              </a:rPr>
              <a:t>    </a:t>
            </a:r>
          </a:p>
        </p:txBody>
      </p:sp>
      <p:sp>
        <p:nvSpPr>
          <p:cNvPr id="4" name="Date Placeholder 3"/>
          <p:cNvSpPr>
            <a:spLocks noGrp="1"/>
          </p:cNvSpPr>
          <p:nvPr>
            <p:ph type="dt" sz="half" idx="10"/>
          </p:nvPr>
        </p:nvSpPr>
        <p:spPr/>
        <p:txBody>
          <a:bodyPr/>
          <a:lstStyle/>
          <a:p>
            <a:fld id="{24A1B9CB-EEF3-4EED-B453-788204C060EC}" type="datetime1">
              <a:rPr lang="en-US" smtClean="0"/>
              <a:t>4/28/2026</a:t>
            </a:fld>
            <a:endParaRPr lang="en-US" dirty="0"/>
          </a:p>
        </p:txBody>
      </p:sp>
      <p:sp>
        <p:nvSpPr>
          <p:cNvPr id="5" name="Footer Placeholder 4"/>
          <p:cNvSpPr>
            <a:spLocks noGrp="1"/>
          </p:cNvSpPr>
          <p:nvPr>
            <p:ph type="ftr" sz="quarter" idx="11"/>
          </p:nvPr>
        </p:nvSpPr>
        <p:spPr>
          <a:xfrm>
            <a:off x="6535596" y="6453003"/>
            <a:ext cx="2104054" cy="365125"/>
          </a:xfrm>
        </p:spPr>
        <p:txBody>
          <a:bodyPr/>
          <a:lstStyle/>
          <a:p>
            <a:r>
              <a:rPr lang="en-US" dirty="0"/>
              <a:t>Mini Project -22CDS48</a:t>
            </a:r>
          </a:p>
        </p:txBody>
      </p:sp>
      <p:sp>
        <p:nvSpPr>
          <p:cNvPr id="6" name="Slide Number Placeholder 5"/>
          <p:cNvSpPr>
            <a:spLocks noGrp="1"/>
          </p:cNvSpPr>
          <p:nvPr>
            <p:ph type="sldNum" sz="quarter" idx="12"/>
          </p:nvPr>
        </p:nvSpPr>
        <p:spPr>
          <a:xfrm>
            <a:off x="8752228" y="6453003"/>
            <a:ext cx="378119" cy="365125"/>
          </a:xfrm>
        </p:spPr>
        <p:txBody>
          <a:bodyPr/>
          <a:lstStyle/>
          <a:p>
            <a:fld id="{3C0F9C3E-79AB-4D1D-AF94-F9B1D785080B}"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FA71DA-8EED-4AB1-3175-1BF174A86DC5}"/>
              </a:ext>
            </a:extLst>
          </p:cNvPr>
          <p:cNvSpPr>
            <a:spLocks noGrp="1"/>
          </p:cNvSpPr>
          <p:nvPr>
            <p:ph idx="1"/>
          </p:nvPr>
        </p:nvSpPr>
        <p:spPr>
          <a:xfrm>
            <a:off x="457200" y="685800"/>
            <a:ext cx="7990184" cy="5638800"/>
          </a:xfrm>
        </p:spPr>
        <p:txBody>
          <a:bodyPr>
            <a:normAutofit/>
          </a:bodyPr>
          <a:lstStyle/>
          <a:p>
            <a:pPr>
              <a:buNone/>
            </a:pPr>
            <a:r>
              <a:rPr lang="en-US" sz="1700" dirty="0">
                <a:latin typeface="Times New Roman" panose="02020603050405020304" pitchFamily="18" charset="0"/>
                <a:cs typeface="Times New Roman" panose="02020603050405020304" pitchFamily="18" charset="0"/>
              </a:rPr>
              <a:t>[5] Puri S., Raka S., Raut S., Sadavarte S., Phadnis S. (2025). "The E-Waste  Challenge in</a:t>
            </a:r>
          </a:p>
          <a:p>
            <a:pPr>
              <a:buNone/>
            </a:pPr>
            <a:r>
              <a:rPr lang="en-US" sz="1700" dirty="0">
                <a:latin typeface="Times New Roman" panose="02020603050405020304" pitchFamily="18" charset="0"/>
                <a:cs typeface="Times New Roman" panose="02020603050405020304" pitchFamily="18" charset="0"/>
              </a:rPr>
              <a:t>India: A Study on Generation, Handling, and Impact." SSRN.</a:t>
            </a:r>
          </a:p>
          <a:p>
            <a:pPr>
              <a:buNone/>
            </a:pPr>
            <a:r>
              <a:rPr lang="en-IN" sz="1700" dirty="0">
                <a:latin typeface="Times New Roman" panose="02020603050405020304" pitchFamily="18" charset="0"/>
                <a:cs typeface="Times New Roman" panose="02020603050405020304" pitchFamily="18" charset="0"/>
                <a:hlinkClick r:id="rId2"/>
              </a:rPr>
              <a:t>https://ssrn.com/abstract=5219208</a:t>
            </a:r>
            <a:r>
              <a:rPr lang="en-IN" sz="1700" dirty="0">
                <a:latin typeface="Times New Roman" panose="02020603050405020304" pitchFamily="18" charset="0"/>
                <a:cs typeface="Times New Roman" panose="02020603050405020304" pitchFamily="18" charset="0"/>
              </a:rPr>
              <a:t> </a:t>
            </a:r>
          </a:p>
          <a:p>
            <a:pPr marL="0" indent="0">
              <a:buNone/>
            </a:pPr>
            <a:r>
              <a:rPr lang="en-IN" sz="1700" dirty="0">
                <a:latin typeface="Times New Roman" panose="02020603050405020304" pitchFamily="18" charset="0"/>
                <a:cs typeface="Times New Roman" panose="02020603050405020304" pitchFamily="18" charset="0"/>
              </a:rPr>
              <a:t>[6] Sengupta D., </a:t>
            </a:r>
            <a:r>
              <a:rPr lang="en-IN" sz="1700" dirty="0" err="1">
                <a:latin typeface="Times New Roman" panose="02020603050405020304" pitchFamily="18" charset="0"/>
                <a:cs typeface="Times New Roman" panose="02020603050405020304" pitchFamily="18" charset="0"/>
              </a:rPr>
              <a:t>Ilankoon</a:t>
            </a:r>
            <a:r>
              <a:rPr lang="en-IN" sz="1700" dirty="0">
                <a:latin typeface="Times New Roman" panose="02020603050405020304" pitchFamily="18" charset="0"/>
                <a:cs typeface="Times New Roman" panose="02020603050405020304" pitchFamily="18" charset="0"/>
              </a:rPr>
              <a:t> I.M.S.K., Kang K.D., Chong M.N(2022). — Circular Economy and Household E-Waste Management in India: Integration of Formal and Informal Sectors</a:t>
            </a:r>
          </a:p>
          <a:p>
            <a:pPr marL="0" indent="0">
              <a:buNone/>
            </a:pPr>
            <a:r>
              <a:rPr lang="en-IN" sz="1700" dirty="0">
                <a:hlinkClick r:id="rId3"/>
              </a:rPr>
              <a:t>https://doi.org/10.1016/j.mineng.2022.107661</a:t>
            </a:r>
            <a:r>
              <a:rPr lang="en-IN" sz="1700" dirty="0"/>
              <a:t> </a:t>
            </a:r>
            <a:endParaRPr lang="en-IN" sz="1700" dirty="0">
              <a:latin typeface="Times New Roman" panose="02020603050405020304" pitchFamily="18" charset="0"/>
              <a:cs typeface="Times New Roman" panose="02020603050405020304" pitchFamily="18" charset="0"/>
            </a:endParaRPr>
          </a:p>
          <a:p>
            <a:pPr marL="0" indent="0">
              <a:buNone/>
            </a:pPr>
            <a:r>
              <a:rPr lang="en-IN" sz="1700" dirty="0">
                <a:latin typeface="Times New Roman" panose="02020603050405020304" pitchFamily="18" charset="0"/>
                <a:cs typeface="Times New Roman" panose="02020603050405020304" pitchFamily="18" charset="0"/>
              </a:rPr>
              <a:t>[7] Singh S., Dasgupta M.S., Routroy S.(2022) — Evaluation of Sustainable E-Waste Collection Method for Urban and Rural Region of India </a:t>
            </a:r>
          </a:p>
          <a:p>
            <a:pPr marL="0" indent="0">
              <a:buNone/>
            </a:pPr>
            <a:r>
              <a:rPr lang="en-IN" sz="1700" dirty="0">
                <a:hlinkClick r:id="rId4"/>
              </a:rPr>
              <a:t>https://doi.org/10.1177/0734242X211018512</a:t>
            </a:r>
            <a:r>
              <a:rPr lang="en-IN" sz="1700" dirty="0"/>
              <a:t> </a:t>
            </a:r>
            <a:endParaRPr lang="en-IN" sz="1700" dirty="0">
              <a:latin typeface="Times New Roman" panose="02020603050405020304" pitchFamily="18" charset="0"/>
              <a:cs typeface="Times New Roman" panose="02020603050405020304" pitchFamily="18" charset="0"/>
            </a:endParaRPr>
          </a:p>
          <a:p>
            <a:pPr marL="0" indent="0">
              <a:buNone/>
            </a:pPr>
            <a:r>
              <a:rPr lang="en-IN" sz="1700" dirty="0">
                <a:latin typeface="Times New Roman" panose="02020603050405020304" pitchFamily="18" charset="0"/>
                <a:cs typeface="Times New Roman" panose="02020603050405020304" pitchFamily="18" charset="0"/>
              </a:rPr>
              <a:t>[8] Dasgupta D., Majumder S., Adhikari J., Ghosh P., Purchase D., Garelick H., Debsarkar A., Chatterjee D.(2023) — Environmental Impact of E-Waste Management in Indian Microscale Informal Sectors </a:t>
            </a:r>
          </a:p>
          <a:p>
            <a:pPr marL="0" indent="0">
              <a:buNone/>
            </a:pPr>
            <a:r>
              <a:rPr lang="en-IN" sz="1700" dirty="0">
                <a:hlinkClick r:id="rId5"/>
              </a:rPr>
              <a:t>https://doi.org/10.1007/s11356-022-23700-7</a:t>
            </a:r>
            <a:r>
              <a:rPr lang="en-IN" sz="1700" dirty="0"/>
              <a:t> </a:t>
            </a:r>
            <a:endParaRPr lang="en-IN" sz="1700" dirty="0">
              <a:latin typeface="Times New Roman" panose="02020603050405020304" pitchFamily="18" charset="0"/>
              <a:cs typeface="Times New Roman" panose="02020603050405020304" pitchFamily="18" charset="0"/>
            </a:endParaRPr>
          </a:p>
          <a:p>
            <a:pPr marL="0" indent="0">
              <a:buNone/>
            </a:pPr>
            <a:endParaRPr lang="en-IN" sz="2600"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1D8DAA5F-D135-A94E-9640-D01AAE60B17E}"/>
              </a:ext>
            </a:extLst>
          </p:cNvPr>
          <p:cNvSpPr>
            <a:spLocks noGrp="1"/>
          </p:cNvSpPr>
          <p:nvPr>
            <p:ph type="dt" sz="half" idx="10"/>
          </p:nvPr>
        </p:nvSpPr>
        <p:spPr/>
        <p:txBody>
          <a:bodyPr/>
          <a:lstStyle/>
          <a:p>
            <a:fld id="{DEF1FCC7-3A2B-4A85-AA7A-36159809237D}" type="datetime1">
              <a:rPr lang="en-US" smtClean="0"/>
              <a:t>4/28/2026</a:t>
            </a:fld>
            <a:endParaRPr lang="en-US" dirty="0"/>
          </a:p>
        </p:txBody>
      </p:sp>
      <p:sp>
        <p:nvSpPr>
          <p:cNvPr id="5" name="Footer Placeholder 4">
            <a:extLst>
              <a:ext uri="{FF2B5EF4-FFF2-40B4-BE49-F238E27FC236}">
                <a16:creationId xmlns:a16="http://schemas.microsoft.com/office/drawing/2014/main" id="{1FB89E58-4C5E-6AB4-E083-952E97A91459}"/>
              </a:ext>
            </a:extLst>
          </p:cNvPr>
          <p:cNvSpPr>
            <a:spLocks noGrp="1"/>
          </p:cNvSpPr>
          <p:nvPr>
            <p:ph type="ftr" sz="quarter" idx="11"/>
          </p:nvPr>
        </p:nvSpPr>
        <p:spPr/>
        <p:txBody>
          <a:bodyPr/>
          <a:lstStyle/>
          <a:p>
            <a:r>
              <a:rPr lang="en-US"/>
              <a:t>
              </a:t>
            </a:r>
            <a:endParaRPr lang="en-US" dirty="0"/>
          </a:p>
        </p:txBody>
      </p:sp>
      <p:sp>
        <p:nvSpPr>
          <p:cNvPr id="6" name="Slide Number Placeholder 5">
            <a:extLst>
              <a:ext uri="{FF2B5EF4-FFF2-40B4-BE49-F238E27FC236}">
                <a16:creationId xmlns:a16="http://schemas.microsoft.com/office/drawing/2014/main" id="{6273220C-3A8D-9CE3-9BA0-35402FDDE1C3}"/>
              </a:ext>
            </a:extLst>
          </p:cNvPr>
          <p:cNvSpPr>
            <a:spLocks noGrp="1"/>
          </p:cNvSpPr>
          <p:nvPr>
            <p:ph type="sldNum" sz="quarter" idx="12"/>
          </p:nvPr>
        </p:nvSpPr>
        <p:spPr/>
        <p:txBody>
          <a:bodyPr/>
          <a:lstStyle/>
          <a:p>
            <a:fld id="{CC057153-B650-4DEB-B370-79DDCFDCE934}" type="slidenum">
              <a:rPr lang="en-US" smtClean="0"/>
              <a:t>13</a:t>
            </a:fld>
            <a:endParaRPr lang="en-US" dirty="0"/>
          </a:p>
        </p:txBody>
      </p:sp>
    </p:spTree>
    <p:extLst>
      <p:ext uri="{BB962C8B-B14F-4D97-AF65-F5344CB8AC3E}">
        <p14:creationId xmlns:p14="http://schemas.microsoft.com/office/powerpoint/2010/main" val="1554947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0BDF5FD-5C15-4D30-B1BF-130267201E94}" type="datetime1">
              <a:rPr lang="en-US" smtClean="0"/>
              <a:t>4/28/2026</a:t>
            </a:fld>
            <a:endParaRPr lang="en-US"/>
          </a:p>
        </p:txBody>
      </p:sp>
      <p:sp>
        <p:nvSpPr>
          <p:cNvPr id="5" name="Footer Placeholder 4"/>
          <p:cNvSpPr>
            <a:spLocks noGrp="1"/>
          </p:cNvSpPr>
          <p:nvPr>
            <p:ph type="ftr" sz="quarter" idx="11"/>
          </p:nvPr>
        </p:nvSpPr>
        <p:spPr>
          <a:xfrm>
            <a:off x="6507489" y="6453003"/>
            <a:ext cx="2104054" cy="365125"/>
          </a:xfrm>
        </p:spPr>
        <p:txBody>
          <a:bodyPr/>
          <a:lstStyle/>
          <a:p>
            <a:r>
              <a:rPr lang="en-US" dirty="0"/>
              <a:t>Mini Project -22CDS48</a:t>
            </a:r>
          </a:p>
        </p:txBody>
      </p:sp>
      <p:sp>
        <p:nvSpPr>
          <p:cNvPr id="6" name="Slide Number Placeholder 5"/>
          <p:cNvSpPr>
            <a:spLocks noGrp="1"/>
          </p:cNvSpPr>
          <p:nvPr>
            <p:ph type="sldNum" sz="quarter" idx="12"/>
          </p:nvPr>
        </p:nvSpPr>
        <p:spPr>
          <a:xfrm>
            <a:off x="8508639" y="6453003"/>
            <a:ext cx="537388" cy="393231"/>
          </a:xfrm>
        </p:spPr>
        <p:txBody>
          <a:bodyPr/>
          <a:lstStyle/>
          <a:p>
            <a:fld id="{3C0F9C3E-79AB-4D1D-AF94-F9B1D785080B}" type="slidenum">
              <a:rPr lang="en-US" smtClean="0"/>
              <a:pPr/>
              <a:t>14</a:t>
            </a:fld>
            <a:endParaRPr lang="en-US"/>
          </a:p>
        </p:txBody>
      </p:sp>
      <p:sp>
        <p:nvSpPr>
          <p:cNvPr id="7" name="Rectangle 6"/>
          <p:cNvSpPr/>
          <p:nvPr/>
        </p:nvSpPr>
        <p:spPr>
          <a:xfrm>
            <a:off x="2971800" y="1828800"/>
            <a:ext cx="3166829" cy="923330"/>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Thank you</a:t>
            </a:r>
          </a:p>
        </p:txBody>
      </p:sp>
      <p:sp>
        <p:nvSpPr>
          <p:cNvPr id="8" name="Rectangle 7"/>
          <p:cNvSpPr/>
          <p:nvPr/>
        </p:nvSpPr>
        <p:spPr>
          <a:xfrm>
            <a:off x="2819400" y="3505200"/>
            <a:ext cx="3505200" cy="923330"/>
          </a:xfrm>
          <a:prstGeom prst="rect">
            <a:avLst/>
          </a:prstGeom>
          <a:noFill/>
        </p:spPr>
        <p:txBody>
          <a:bodyPr wrap="squar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rPr>
              <a:t>Queries ?</a:t>
            </a:r>
          </a:p>
        </p:txBody>
      </p:sp>
    </p:spTree>
  </p:cSld>
  <p:clrMapOvr>
    <a:masterClrMapping/>
  </p:clrMapOvr>
</p:sld>
</file>

<file path=ppt/theme/theme1.xml><?xml version="1.0" encoding="utf-8"?>
<a:theme xmlns:a="http://schemas.openxmlformats.org/drawingml/2006/main" name="VanillaVTI">
  <a:themeElements>
    <a:clrScheme name="VanillaVTI">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VanillaVTI">
      <a:majorFont>
        <a:latin typeface="Neue Haas Grotesk Text Pro"/>
        <a:ea typeface=""/>
        <a:cs typeface=""/>
      </a:majorFont>
      <a:minorFont>
        <a:latin typeface="Neue Haas Grotesk Text Pro"/>
        <a:ea typeface=""/>
        <a:cs typeface=""/>
      </a:minorFont>
    </a:fontScheme>
    <a:fmtScheme name="Vanilla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AACC6CF0-9F86-48CC-9C4E-CA578EE0A0A0}" vid="{3BDE51FE-56D6-4100-AFB5-5B4AEDCE2E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504</TotalTime>
  <Words>1368</Words>
  <Application>Microsoft Office PowerPoint</Application>
  <PresentationFormat>On-screen Show (4:3)</PresentationFormat>
  <Paragraphs>155</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Neue Haas Grotesk Text Pro</vt:lpstr>
      <vt:lpstr>Times New Roman</vt:lpstr>
      <vt:lpstr>Wingdings</vt:lpstr>
      <vt:lpstr>VanillaVTI</vt:lpstr>
      <vt:lpstr>DEPARTMENT OF COMPUTER SCIENCE &amp; ENGINEERING(DATA SCIENCE)</vt:lpstr>
      <vt:lpstr>Agenda</vt:lpstr>
      <vt:lpstr>Introduction </vt:lpstr>
      <vt:lpstr>Literature survey / Existing systems</vt:lpstr>
      <vt:lpstr>Limitations</vt:lpstr>
      <vt:lpstr>Problem Definition</vt:lpstr>
      <vt:lpstr>Objectives</vt:lpstr>
      <vt:lpstr>Design Modules</vt:lpstr>
      <vt:lpstr>Algorithm / Flowchart</vt:lpstr>
      <vt:lpstr>Algorithm / Flowchart</vt:lpstr>
      <vt:lpstr>Conclusion</vt:lpstr>
      <vt:lpstr>References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INFORMATION SCIENCE &amp; ENGINEERING</dc:title>
  <dc:creator>GANGADHAR</dc:creator>
  <cp:lastModifiedBy>shreya.bn02@outlook.com</cp:lastModifiedBy>
  <cp:revision>345</cp:revision>
  <dcterms:created xsi:type="dcterms:W3CDTF">2019-03-07T05:34:07Z</dcterms:created>
  <dcterms:modified xsi:type="dcterms:W3CDTF">2026-04-28T05:50:18Z</dcterms:modified>
</cp:coreProperties>
</file>